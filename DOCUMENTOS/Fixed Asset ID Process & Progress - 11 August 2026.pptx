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93" r:id="rId2"/>
    <p:sldId id="292" r:id="rId3"/>
    <p:sldId id="282" r:id="rId4"/>
    <p:sldId id="284" r:id="rId5"/>
    <p:sldId id="285" r:id="rId6"/>
    <p:sldId id="260" r:id="rId7"/>
    <p:sldId id="286" r:id="rId8"/>
    <p:sldId id="289" r:id="rId9"/>
    <p:sldId id="287" r:id="rId10"/>
  </p:sldIdLst>
  <p:sldSz cx="12192000" cy="6858000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Times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DF2"/>
    <a:srgbClr val="6EEAD6"/>
    <a:srgbClr val="E6E8ED"/>
    <a:srgbClr val="E3D3E8"/>
    <a:srgbClr val="FFFFFF"/>
    <a:srgbClr val="FD7726"/>
    <a:srgbClr val="FF9900"/>
    <a:srgbClr val="FF6600"/>
    <a:srgbClr val="FF0000"/>
    <a:srgbClr val="F6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0" autoAdjust="0"/>
    <p:restoredTop sz="94767" autoAdjust="0"/>
  </p:normalViewPr>
  <p:slideViewPr>
    <p:cSldViewPr>
      <p:cViewPr varScale="1">
        <p:scale>
          <a:sx n="120" d="100"/>
          <a:sy n="120" d="100"/>
        </p:scale>
        <p:origin x="19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1200" y="-104"/>
      </p:cViewPr>
      <p:guideLst>
        <p:guide orient="horz" pos="287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2113" y="684213"/>
            <a:ext cx="6075362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30700"/>
            <a:ext cx="50292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A5684228-BB3A-43D9-840F-7810027ED1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684882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2113" y="684213"/>
            <a:ext cx="6075362" cy="3417887"/>
          </a:xfrm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35801D-3E1D-451F-92C7-5B87CD6362C6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91100"/>
            <a:ext cx="121920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2800" y="685800"/>
            <a:ext cx="10566400" cy="1447800"/>
          </a:xfrm>
        </p:spPr>
        <p:txBody>
          <a:bodyPr/>
          <a:lstStyle>
            <a:lvl1pPr>
              <a:defRPr sz="4000">
                <a:solidFill>
                  <a:srgbClr val="FF6600"/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12800" y="2286000"/>
            <a:ext cx="10566400" cy="2590800"/>
          </a:xfrm>
        </p:spPr>
        <p:txBody>
          <a:bodyPr/>
          <a:lstStyle>
            <a:lvl1pPr marL="0" indent="0">
              <a:buFont typeface="Arial" charset="0"/>
              <a:buNone/>
              <a:defRPr/>
            </a:lvl1pPr>
          </a:lstStyle>
          <a:p>
            <a:r>
              <a:rPr lang="en-US" altLang="zh-TW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0800" y="1371600"/>
            <a:ext cx="4927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600" y="1371600"/>
            <a:ext cx="4927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2200" y="304800"/>
            <a:ext cx="26670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304800"/>
            <a:ext cx="7797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106680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20800" y="1371600"/>
            <a:ext cx="49276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600" y="1371600"/>
            <a:ext cx="49276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63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5829300"/>
            <a:ext cx="121920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304800"/>
            <a:ext cx="10668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0800" y="1371600"/>
            <a:ext cx="10058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9" name="Line 11"/>
          <p:cNvSpPr>
            <a:spLocks noChangeShapeType="1"/>
          </p:cNvSpPr>
          <p:nvPr userDrawn="1"/>
        </p:nvSpPr>
        <p:spPr bwMode="auto">
          <a:xfrm>
            <a:off x="609600" y="1143000"/>
            <a:ext cx="108712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39" name="Text Box 15"/>
          <p:cNvSpPr txBox="1">
            <a:spLocks noChangeArrowheads="1"/>
          </p:cNvSpPr>
          <p:nvPr userDrawn="1"/>
        </p:nvSpPr>
        <p:spPr bwMode="auto">
          <a:xfrm>
            <a:off x="711200" y="6521450"/>
            <a:ext cx="705642" cy="25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0" hangingPunct="0">
              <a:defRPr/>
            </a:pPr>
            <a:r>
              <a:rPr lang="en-US" altLang="zh-TW" sz="1600">
                <a:latin typeface="Helvetica" pitchFamily="2" charset="0"/>
                <a:ea typeface="PMingLiU" pitchFamily="18" charset="-120"/>
                <a:cs typeface="+mn-cs"/>
              </a:rPr>
              <a:t>Page </a:t>
            </a:r>
            <a:fld id="{7507C164-D253-4A62-8ABF-2DF3B53E5820}" type="slidenum">
              <a:rPr lang="en-US" altLang="zh-TW" sz="1600" smtClean="0">
                <a:latin typeface="Helvetica" pitchFamily="2" charset="0"/>
                <a:ea typeface="PMingLiU" pitchFamily="18" charset="-120"/>
                <a:cs typeface="+mn-cs"/>
              </a:rPr>
              <a:pPr eaLnBrk="0" hangingPunct="0">
                <a:defRPr/>
              </a:pPr>
              <a:t>‹#›</a:t>
            </a:fld>
            <a:endParaRPr lang="en-US" altLang="zh-TW" sz="1600">
              <a:latin typeface="Helvetica" pitchFamily="2" charset="0"/>
              <a:ea typeface="PMingLiU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6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Helvetica" pitchFamily="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60000"/>
        <a:buFont typeface="Arial" charset="0"/>
        <a:buChar char="►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60000"/>
        <a:buFont typeface="Wingdings" pitchFamily="2" charset="2"/>
        <a:buChar char="Ø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F58F-491D-2CFD-F7C7-362C051EB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Fixed Assets @ Zacatecas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4E27D-F2BE-DF7F-F0BC-8A71DB1CC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19291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961F-F43F-4FC4-ABD4-057FF78E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D040-AB0F-C530-1BD5-2962D99E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– Fixed Asset Reconciliation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2B47-1184-E923-955B-1D6AC6F23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68760"/>
            <a:ext cx="10668000" cy="4680520"/>
          </a:xfrm>
        </p:spPr>
        <p:txBody>
          <a:bodyPr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Fixed Asset Policy signed at Zacatecas plant level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Local policy ties back to ACC-011, titled “</a:t>
            </a:r>
            <a:r>
              <a:rPr lang="en-US" sz="1600" b="1" u="sng" spc="-1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Property, Plant and Equipment, Right-of-Use Assets, Held-for-Sale Assets and Investment Property”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Incorporates RACI Chart, Gantt Chart, and Consequences of Missing or Incorrect Data with identifiable Departments responsible for specific actions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Policy includes monthly physical reconciliation against Annex 24 balances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Fixed Asset identification level communicated in Monthly IMMEX Roundtable Meeting</a:t>
            </a:r>
          </a:p>
          <a:p>
            <a:pPr marL="457200" lvl="1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Reconciliation process matches Annex 24 against internal Compliance spreadsheet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ADD SCREENSHOT OF SPREADSHEET HERE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636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762000" y="43693"/>
            <a:ext cx="10668000" cy="576064"/>
          </a:xfrm>
        </p:spPr>
        <p:txBody>
          <a:bodyPr/>
          <a:lstStyle/>
          <a:p>
            <a:r>
              <a:rPr lang="en-US" sz="200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PLANT 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545ABB-0BE7-56F1-C716-6CC10E0EB79F}"/>
              </a:ext>
            </a:extLst>
          </p:cNvPr>
          <p:cNvGrpSpPr/>
          <p:nvPr/>
        </p:nvGrpSpPr>
        <p:grpSpPr>
          <a:xfrm>
            <a:off x="512675" y="735475"/>
            <a:ext cx="310664" cy="844848"/>
            <a:chOff x="318135" y="217170"/>
            <a:chExt cx="320040" cy="1005840"/>
          </a:xfrm>
        </p:grpSpPr>
        <p:sp>
          <p:nvSpPr>
            <p:cNvPr id="46" name="Shape 0">
              <a:extLst>
                <a:ext uri="{FF2B5EF4-FFF2-40B4-BE49-F238E27FC236}">
                  <a16:creationId xmlns:a16="http://schemas.microsoft.com/office/drawing/2014/main" id="{A7A73096-E33C-5DD0-14F6-3A0A6DDC084B}"/>
                </a:ext>
              </a:extLst>
            </p:cNvPr>
            <p:cNvSpPr/>
            <p:nvPr/>
          </p:nvSpPr>
          <p:spPr>
            <a:xfrm>
              <a:off x="318135" y="217170"/>
              <a:ext cx="320040" cy="10058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1">
              <a:extLst>
                <a:ext uri="{FF2B5EF4-FFF2-40B4-BE49-F238E27FC236}">
                  <a16:creationId xmlns:a16="http://schemas.microsoft.com/office/drawing/2014/main" id="{9645AC59-B373-3E89-8DAD-B2F7A60C1B0F}"/>
                </a:ext>
              </a:extLst>
            </p:cNvPr>
            <p:cNvSpPr/>
            <p:nvPr/>
          </p:nvSpPr>
          <p:spPr>
            <a:xfrm>
              <a:off x="318135" y="217170"/>
              <a:ext cx="320040" cy="1005840"/>
            </a:xfrm>
            <a:prstGeom prst="rect">
              <a:avLst/>
            </a:prstGeom>
            <a:noFill/>
            <a:ln/>
          </p:spPr>
          <p:txBody>
            <a:bodyPr vert="vert270"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ENTRY</a:t>
              </a:r>
              <a:endParaRPr lang="en-US" sz="1100" dirty="0"/>
            </a:p>
          </p:txBody>
        </p:sp>
      </p:grpSp>
      <p:sp>
        <p:nvSpPr>
          <p:cNvPr id="4" name="Shape 2">
            <a:extLst>
              <a:ext uri="{FF2B5EF4-FFF2-40B4-BE49-F238E27FC236}">
                <a16:creationId xmlns:a16="http://schemas.microsoft.com/office/drawing/2014/main" id="{AE8CDB2A-F974-375D-C07A-B18BC7932AED}"/>
              </a:ext>
            </a:extLst>
          </p:cNvPr>
          <p:cNvSpPr/>
          <p:nvPr/>
        </p:nvSpPr>
        <p:spPr>
          <a:xfrm>
            <a:off x="512675" y="2992312"/>
            <a:ext cx="310664" cy="2113720"/>
          </a:xfrm>
          <a:prstGeom prst="roundRect">
            <a:avLst>
              <a:gd name="adj" fmla="val 28571"/>
            </a:avLst>
          </a:prstGeom>
          <a:solidFill>
            <a:srgbClr val="E3D3E8"/>
          </a:solidFill>
          <a:ln w="12700">
            <a:solidFill>
              <a:srgbClr val="3A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218906-211A-91A7-D4A0-61C93F194DA7}"/>
              </a:ext>
            </a:extLst>
          </p:cNvPr>
          <p:cNvSpPr/>
          <p:nvPr/>
        </p:nvSpPr>
        <p:spPr>
          <a:xfrm>
            <a:off x="512675" y="2992313"/>
            <a:ext cx="310664" cy="2113719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</a:t>
            </a:r>
            <a:endParaRPr lang="en-US" sz="1100" dirty="0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6E6D192B-1F59-081D-6E2D-470E8EB3AF55}"/>
              </a:ext>
            </a:extLst>
          </p:cNvPr>
          <p:cNvSpPr/>
          <p:nvPr/>
        </p:nvSpPr>
        <p:spPr>
          <a:xfrm>
            <a:off x="3676106" y="502735"/>
            <a:ext cx="613759" cy="1300826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DD170EBD-92A0-6F05-5C24-10BAF5E02638}"/>
              </a:ext>
            </a:extLst>
          </p:cNvPr>
          <p:cNvSpPr/>
          <p:nvPr/>
        </p:nvSpPr>
        <p:spPr>
          <a:xfrm>
            <a:off x="3647728" y="756228"/>
            <a:ext cx="669920" cy="1012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95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-Identified: 9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BA45B578-777B-7D01-9E5E-88A1C95DCFAB}"/>
              </a:ext>
            </a:extLst>
          </p:cNvPr>
          <p:cNvSpPr/>
          <p:nvPr/>
        </p:nvSpPr>
        <p:spPr>
          <a:xfrm>
            <a:off x="4343368" y="502735"/>
            <a:ext cx="645268" cy="1303386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AC9E3BA3-8B14-E058-190D-02027D2B3E8F}"/>
              </a:ext>
            </a:extLst>
          </p:cNvPr>
          <p:cNvSpPr/>
          <p:nvPr/>
        </p:nvSpPr>
        <p:spPr>
          <a:xfrm>
            <a:off x="4346116" y="795917"/>
            <a:ext cx="649849" cy="833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CAP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-Fixed assets: 14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-Identified: 10</a:t>
            </a:r>
            <a:endParaRPr lang="en-US" sz="1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8C9F02-E3DC-7AB3-CA3B-045AFBE86F3B}"/>
              </a:ext>
            </a:extLst>
          </p:cNvPr>
          <p:cNvGrpSpPr/>
          <p:nvPr/>
        </p:nvGrpSpPr>
        <p:grpSpPr>
          <a:xfrm>
            <a:off x="623392" y="1902474"/>
            <a:ext cx="3887440" cy="806446"/>
            <a:chOff x="371067" y="1828800"/>
            <a:chExt cx="2606040" cy="960120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30BF0438-8B4B-581B-05C4-8FB146C5AF9C}"/>
                </a:ext>
              </a:extLst>
            </p:cNvPr>
            <p:cNvSpPr/>
            <p:nvPr/>
          </p:nvSpPr>
          <p:spPr>
            <a:xfrm>
              <a:off x="594361" y="1828800"/>
              <a:ext cx="2190322" cy="960120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81FC09C1-FB99-C58A-0A11-510B5871F615}"/>
                </a:ext>
              </a:extLst>
            </p:cNvPr>
            <p:cNvSpPr/>
            <p:nvPr/>
          </p:nvSpPr>
          <p:spPr>
            <a:xfrm>
              <a:off x="371067" y="1874520"/>
              <a:ext cx="260604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HSWP</a:t>
              </a:r>
              <a:endParaRPr lang="en-US" sz="15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28     -Identified: 25</a:t>
              </a:r>
              <a:endParaRPr lang="en-US" sz="10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50302D-8636-2749-746F-585D06E69235}"/>
              </a:ext>
            </a:extLst>
          </p:cNvPr>
          <p:cNvGrpSpPr/>
          <p:nvPr/>
        </p:nvGrpSpPr>
        <p:grpSpPr>
          <a:xfrm>
            <a:off x="956481" y="2992313"/>
            <a:ext cx="4023840" cy="576033"/>
            <a:chOff x="594360" y="3246120"/>
            <a:chExt cx="2697480" cy="685800"/>
          </a:xfrm>
        </p:grpSpPr>
        <p:sp>
          <p:nvSpPr>
            <p:cNvPr id="38" name="Shape 10">
              <a:extLst>
                <a:ext uri="{FF2B5EF4-FFF2-40B4-BE49-F238E27FC236}">
                  <a16:creationId xmlns:a16="http://schemas.microsoft.com/office/drawing/2014/main" id="{43C5C341-7659-8ABA-7176-1E970D9ADF42}"/>
                </a:ext>
              </a:extLst>
            </p:cNvPr>
            <p:cNvSpPr/>
            <p:nvPr/>
          </p:nvSpPr>
          <p:spPr>
            <a:xfrm>
              <a:off x="594360" y="3246120"/>
              <a:ext cx="2697480" cy="685800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0A816812-0D02-7E85-5651-A06FC3C200A7}"/>
                </a:ext>
              </a:extLst>
            </p:cNvPr>
            <p:cNvSpPr/>
            <p:nvPr/>
          </p:nvSpPr>
          <p:spPr>
            <a:xfrm>
              <a:off x="640080" y="3291840"/>
              <a:ext cx="260604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BROAN 1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11   -Identified: 2</a:t>
              </a:r>
              <a:endParaRPr lang="en-US" sz="10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98B42B-B043-F202-046C-5D99DCCCBFA2}"/>
              </a:ext>
            </a:extLst>
          </p:cNvPr>
          <p:cNvGrpSpPr/>
          <p:nvPr/>
        </p:nvGrpSpPr>
        <p:grpSpPr>
          <a:xfrm>
            <a:off x="956480" y="3645150"/>
            <a:ext cx="4023839" cy="522270"/>
            <a:chOff x="594360" y="4023360"/>
            <a:chExt cx="2697480" cy="621792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E5B846D5-CDA3-D4FC-6614-13EED15EAEB5}"/>
                </a:ext>
              </a:extLst>
            </p:cNvPr>
            <p:cNvSpPr/>
            <p:nvPr/>
          </p:nvSpPr>
          <p:spPr>
            <a:xfrm>
              <a:off x="594360" y="4023360"/>
              <a:ext cx="2697480" cy="621792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A9CB6AB0-189A-CF59-5E31-B398114F5B02}"/>
                </a:ext>
              </a:extLst>
            </p:cNvPr>
            <p:cNvSpPr/>
            <p:nvPr/>
          </p:nvSpPr>
          <p:spPr>
            <a:xfrm>
              <a:off x="640080" y="4069080"/>
              <a:ext cx="2606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BROAN (manual)</a:t>
              </a:r>
              <a:endParaRPr lang="en-US" sz="15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18</a:t>
              </a:r>
              <a:endParaRPr lang="en-US" sz="1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45FFF0-7B18-F592-4A58-373915D6EED6}"/>
              </a:ext>
            </a:extLst>
          </p:cNvPr>
          <p:cNvGrpSpPr/>
          <p:nvPr/>
        </p:nvGrpSpPr>
        <p:grpSpPr>
          <a:xfrm>
            <a:off x="956481" y="4244224"/>
            <a:ext cx="4023840" cy="522270"/>
            <a:chOff x="594360" y="4736592"/>
            <a:chExt cx="2697480" cy="621792"/>
          </a:xfrm>
        </p:grpSpPr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ABD9E116-278B-D7EA-6584-38D2691B8278}"/>
                </a:ext>
              </a:extLst>
            </p:cNvPr>
            <p:cNvSpPr/>
            <p:nvPr/>
          </p:nvSpPr>
          <p:spPr>
            <a:xfrm>
              <a:off x="594360" y="4736592"/>
              <a:ext cx="2697480" cy="621792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26A23965-FD7A-BFC8-732E-E1C9AE5CE964}"/>
                </a:ext>
              </a:extLst>
            </p:cNvPr>
            <p:cNvSpPr/>
            <p:nvPr/>
          </p:nvSpPr>
          <p:spPr>
            <a:xfrm>
              <a:off x="640080" y="4782312"/>
              <a:ext cx="2606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BROAN 2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20</a:t>
              </a:r>
              <a:endParaRPr lang="en-US" sz="10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74AC8B-518D-EBBB-4A7E-F1C874CBEB92}"/>
              </a:ext>
            </a:extLst>
          </p:cNvPr>
          <p:cNvGrpSpPr/>
          <p:nvPr/>
        </p:nvGrpSpPr>
        <p:grpSpPr>
          <a:xfrm>
            <a:off x="1755331" y="4843297"/>
            <a:ext cx="3224989" cy="522270"/>
            <a:chOff x="1417320" y="5449824"/>
            <a:chExt cx="1874520" cy="621792"/>
          </a:xfrm>
        </p:grpSpPr>
        <p:sp>
          <p:nvSpPr>
            <p:cNvPr id="32" name="Shape 16">
              <a:extLst>
                <a:ext uri="{FF2B5EF4-FFF2-40B4-BE49-F238E27FC236}">
                  <a16:creationId xmlns:a16="http://schemas.microsoft.com/office/drawing/2014/main" id="{620E5661-C798-82A0-0573-9B4B3EE86DC5}"/>
                </a:ext>
              </a:extLst>
            </p:cNvPr>
            <p:cNvSpPr/>
            <p:nvPr/>
          </p:nvSpPr>
          <p:spPr>
            <a:xfrm>
              <a:off x="1417320" y="5449824"/>
              <a:ext cx="1874520" cy="621792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6F847EB7-DEFE-1374-D83A-BCCFD5BD3215}"/>
                </a:ext>
              </a:extLst>
            </p:cNvPr>
            <p:cNvSpPr/>
            <p:nvPr/>
          </p:nvSpPr>
          <p:spPr>
            <a:xfrm>
              <a:off x="1463040" y="5495544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EPOXY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11</a:t>
              </a:r>
              <a:endParaRPr lang="en-US" sz="1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D61527-78EB-79E3-CB5C-2D10A2B2E65A}"/>
              </a:ext>
            </a:extLst>
          </p:cNvPr>
          <p:cNvGrpSpPr/>
          <p:nvPr/>
        </p:nvGrpSpPr>
        <p:grpSpPr>
          <a:xfrm>
            <a:off x="956481" y="5488454"/>
            <a:ext cx="4023838" cy="460826"/>
            <a:chOff x="594360" y="6217920"/>
            <a:chExt cx="2697480" cy="548640"/>
          </a:xfrm>
        </p:grpSpPr>
        <p:sp>
          <p:nvSpPr>
            <p:cNvPr id="30" name="Shape 18">
              <a:extLst>
                <a:ext uri="{FF2B5EF4-FFF2-40B4-BE49-F238E27FC236}">
                  <a16:creationId xmlns:a16="http://schemas.microsoft.com/office/drawing/2014/main" id="{6ABD7912-A362-113F-B2AC-B4E777A40D9F}"/>
                </a:ext>
              </a:extLst>
            </p:cNvPr>
            <p:cNvSpPr/>
            <p:nvPr/>
          </p:nvSpPr>
          <p:spPr>
            <a:xfrm>
              <a:off x="594360" y="6217920"/>
              <a:ext cx="2697480" cy="548640"/>
            </a:xfrm>
            <a:prstGeom prst="roundRect">
              <a:avLst/>
            </a:prstGeom>
            <a:solidFill>
              <a:srgbClr val="E3D3E8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9">
              <a:extLst>
                <a:ext uri="{FF2B5EF4-FFF2-40B4-BE49-F238E27FC236}">
                  <a16:creationId xmlns:a16="http://schemas.microsoft.com/office/drawing/2014/main" id="{BCBF96B5-6705-45FD-C66E-1858FBA0544E}"/>
                </a:ext>
              </a:extLst>
            </p:cNvPr>
            <p:cNvSpPr>
              <a:spLocks/>
            </p:cNvSpPr>
            <p:nvPr/>
          </p:nvSpPr>
          <p:spPr>
            <a:xfrm>
              <a:off x="640080" y="6263640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WHAREHOUSE</a:t>
              </a:r>
              <a:endParaRPr lang="en-US" sz="15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34EC53-9CAC-B2BF-8C73-D267994C532F}"/>
              </a:ext>
            </a:extLst>
          </p:cNvPr>
          <p:cNvGrpSpPr/>
          <p:nvPr/>
        </p:nvGrpSpPr>
        <p:grpSpPr>
          <a:xfrm>
            <a:off x="8162164" y="1124743"/>
            <a:ext cx="3472779" cy="2646610"/>
            <a:chOff x="7086600" y="898361"/>
            <a:chExt cx="3977640" cy="3520440"/>
          </a:xfrm>
        </p:grpSpPr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5E35C496-63EA-0083-DBBB-A5FD7A6BB797}"/>
                </a:ext>
              </a:extLst>
            </p:cNvPr>
            <p:cNvSpPr/>
            <p:nvPr/>
          </p:nvSpPr>
          <p:spPr>
            <a:xfrm>
              <a:off x="7086600" y="1370504"/>
              <a:ext cx="3977640" cy="2515694"/>
            </a:xfrm>
            <a:prstGeom prst="roundRect">
              <a:avLst/>
            </a:prstGeom>
            <a:solidFill>
              <a:srgbClr val="E3D3E8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06708059-11EE-DC2E-E308-8DB1702F5294}"/>
                </a:ext>
              </a:extLst>
            </p:cNvPr>
            <p:cNvSpPr/>
            <p:nvPr/>
          </p:nvSpPr>
          <p:spPr>
            <a:xfrm>
              <a:off x="7132320" y="898361"/>
              <a:ext cx="3886200" cy="3520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WHAREHOUSE</a:t>
              </a:r>
              <a:endParaRPr lang="en-US" sz="15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5A0C8B-706A-420E-CEB2-C5D73DB8C85B}"/>
              </a:ext>
            </a:extLst>
          </p:cNvPr>
          <p:cNvGrpSpPr/>
          <p:nvPr/>
        </p:nvGrpSpPr>
        <p:grpSpPr>
          <a:xfrm>
            <a:off x="6057786" y="3866238"/>
            <a:ext cx="2115476" cy="1002863"/>
            <a:chOff x="5852160" y="4154749"/>
            <a:chExt cx="1920240" cy="1313363"/>
          </a:xfrm>
        </p:grpSpPr>
        <p:sp>
          <p:nvSpPr>
            <p:cNvPr id="26" name="Shape 26">
              <a:extLst>
                <a:ext uri="{FF2B5EF4-FFF2-40B4-BE49-F238E27FC236}">
                  <a16:creationId xmlns:a16="http://schemas.microsoft.com/office/drawing/2014/main" id="{4B6CB99F-8072-1512-1023-4F0D95CAFABE}"/>
                </a:ext>
              </a:extLst>
            </p:cNvPr>
            <p:cNvSpPr/>
            <p:nvPr/>
          </p:nvSpPr>
          <p:spPr>
            <a:xfrm>
              <a:off x="5852160" y="4154749"/>
              <a:ext cx="1920240" cy="1234440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 27">
              <a:extLst>
                <a:ext uri="{FF2B5EF4-FFF2-40B4-BE49-F238E27FC236}">
                  <a16:creationId xmlns:a16="http://schemas.microsoft.com/office/drawing/2014/main" id="{E29D79BF-6381-5BF6-9D65-987B58F6C2EA}"/>
                </a:ext>
              </a:extLst>
            </p:cNvPr>
            <p:cNvSpPr/>
            <p:nvPr/>
          </p:nvSpPr>
          <p:spPr>
            <a:xfrm>
              <a:off x="5897880" y="4325112"/>
              <a:ext cx="1828800" cy="1143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ETM M4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34</a:t>
              </a:r>
              <a:b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-Identified:  1</a:t>
              </a:r>
              <a:endParaRPr lang="en-US" sz="1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D278C8-3139-1D49-C7DC-1C276C9114DA}"/>
              </a:ext>
            </a:extLst>
          </p:cNvPr>
          <p:cNvGrpSpPr/>
          <p:nvPr/>
        </p:nvGrpSpPr>
        <p:grpSpPr>
          <a:xfrm>
            <a:off x="8262019" y="3803428"/>
            <a:ext cx="3417305" cy="2145852"/>
            <a:chOff x="8001000" y="4166080"/>
            <a:chExt cx="3520440" cy="2554760"/>
          </a:xfrm>
        </p:grpSpPr>
        <p:sp>
          <p:nvSpPr>
            <p:cNvPr id="24" name="Shape 32">
              <a:extLst>
                <a:ext uri="{FF2B5EF4-FFF2-40B4-BE49-F238E27FC236}">
                  <a16:creationId xmlns:a16="http://schemas.microsoft.com/office/drawing/2014/main" id="{DE46D591-F52A-F286-2331-CFA7009D2515}"/>
                </a:ext>
              </a:extLst>
            </p:cNvPr>
            <p:cNvSpPr/>
            <p:nvPr/>
          </p:nvSpPr>
          <p:spPr>
            <a:xfrm>
              <a:off x="8001000" y="4166080"/>
              <a:ext cx="3520440" cy="2487168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 33">
              <a:extLst>
                <a:ext uri="{FF2B5EF4-FFF2-40B4-BE49-F238E27FC236}">
                  <a16:creationId xmlns:a16="http://schemas.microsoft.com/office/drawing/2014/main" id="{25199CA8-9541-3E21-5780-70E45FB6B430}"/>
                </a:ext>
              </a:extLst>
            </p:cNvPr>
            <p:cNvSpPr/>
            <p:nvPr/>
          </p:nvSpPr>
          <p:spPr>
            <a:xfrm>
              <a:off x="8046720" y="4325112"/>
              <a:ext cx="3429000" cy="2395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DRAIN AND CIRCULATION PUMP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-Fixed assets: 43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-Identified: 2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Shape 20">
            <a:extLst>
              <a:ext uri="{FF2B5EF4-FFF2-40B4-BE49-F238E27FC236}">
                <a16:creationId xmlns:a16="http://schemas.microsoft.com/office/drawing/2014/main" id="{20863A3D-3413-7BE8-CF3E-AB0179E373B3}"/>
              </a:ext>
            </a:extLst>
          </p:cNvPr>
          <p:cNvSpPr/>
          <p:nvPr/>
        </p:nvSpPr>
        <p:spPr>
          <a:xfrm>
            <a:off x="6239104" y="2543227"/>
            <a:ext cx="1801112" cy="806446"/>
          </a:xfrm>
          <a:prstGeom prst="roundRect">
            <a:avLst/>
          </a:prstGeom>
          <a:solidFill>
            <a:srgbClr val="E3D3E8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72A92C-F878-0872-24A9-0C0A4F88EC30}"/>
              </a:ext>
            </a:extLst>
          </p:cNvPr>
          <p:cNvGrpSpPr/>
          <p:nvPr/>
        </p:nvGrpSpPr>
        <p:grpSpPr>
          <a:xfrm>
            <a:off x="6057786" y="4872377"/>
            <a:ext cx="2115476" cy="1046501"/>
            <a:chOff x="5852160" y="4222192"/>
            <a:chExt cx="1920240" cy="1245920"/>
          </a:xfrm>
        </p:grpSpPr>
        <p:sp>
          <p:nvSpPr>
            <p:cNvPr id="20" name="Shape 26">
              <a:extLst>
                <a:ext uri="{FF2B5EF4-FFF2-40B4-BE49-F238E27FC236}">
                  <a16:creationId xmlns:a16="http://schemas.microsoft.com/office/drawing/2014/main" id="{9E670CC2-84E4-5CF0-19A5-25A8222DC08E}"/>
                </a:ext>
              </a:extLst>
            </p:cNvPr>
            <p:cNvSpPr/>
            <p:nvPr/>
          </p:nvSpPr>
          <p:spPr>
            <a:xfrm>
              <a:off x="5852160" y="4222192"/>
              <a:ext cx="1920240" cy="1122218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 27">
              <a:extLst>
                <a:ext uri="{FF2B5EF4-FFF2-40B4-BE49-F238E27FC236}">
                  <a16:creationId xmlns:a16="http://schemas.microsoft.com/office/drawing/2014/main" id="{FBCBE32D-5C36-E878-5B25-2B8C79F4DC4D}"/>
                </a:ext>
              </a:extLst>
            </p:cNvPr>
            <p:cNvSpPr/>
            <p:nvPr/>
          </p:nvSpPr>
          <p:spPr>
            <a:xfrm>
              <a:off x="5897880" y="4325112"/>
              <a:ext cx="1828800" cy="1143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ETM M5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38</a:t>
              </a:r>
              <a:b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-Identified: 7</a:t>
              </a:r>
            </a:p>
          </p:txBody>
        </p:sp>
      </p:grpSp>
      <p:sp>
        <p:nvSpPr>
          <p:cNvPr id="48" name="Shape 22">
            <a:extLst>
              <a:ext uri="{FF2B5EF4-FFF2-40B4-BE49-F238E27FC236}">
                <a16:creationId xmlns:a16="http://schemas.microsoft.com/office/drawing/2014/main" id="{32D165F3-EF6D-ABF0-69A5-B3AE3FB40A08}"/>
              </a:ext>
            </a:extLst>
          </p:cNvPr>
          <p:cNvSpPr/>
          <p:nvPr/>
        </p:nvSpPr>
        <p:spPr>
          <a:xfrm>
            <a:off x="10128448" y="43693"/>
            <a:ext cx="1440160" cy="1297075"/>
          </a:xfrm>
          <a:prstGeom prst="roundRect">
            <a:avLst/>
          </a:prstGeom>
          <a:solidFill>
            <a:srgbClr val="C9DDF2"/>
          </a:solidFill>
          <a:ln w="12700">
            <a:solidFill>
              <a:schemeClr val="tx1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F00851A-324A-34F1-BC9A-39E755D33373}"/>
              </a:ext>
            </a:extLst>
          </p:cNvPr>
          <p:cNvSpPr/>
          <p:nvPr/>
        </p:nvSpPr>
        <p:spPr>
          <a:xfrm>
            <a:off x="9183775" y="-675456"/>
            <a:ext cx="3392945" cy="2646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TOOL ROOM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-Fixed assets: 7</a:t>
            </a:r>
            <a:endParaRPr lang="en-US" sz="100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88345EF6-C4D4-FC18-59B3-5BC789C5EDCD}"/>
              </a:ext>
            </a:extLst>
          </p:cNvPr>
          <p:cNvSpPr/>
          <p:nvPr/>
        </p:nvSpPr>
        <p:spPr>
          <a:xfrm>
            <a:off x="8529616" y="623248"/>
            <a:ext cx="1166784" cy="738727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7ED13BE0-4A0B-E1F6-72E9-54AB5EE001FD}"/>
              </a:ext>
            </a:extLst>
          </p:cNvPr>
          <p:cNvSpPr/>
          <p:nvPr/>
        </p:nvSpPr>
        <p:spPr>
          <a:xfrm>
            <a:off x="8328248" y="404664"/>
            <a:ext cx="1534016" cy="1012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FLAT PACK</a:t>
            </a:r>
          </a:p>
          <a:p>
            <a:pPr algn="ctr"/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-Fixed assets: 20</a:t>
            </a:r>
            <a:endParaRPr lang="en-US" sz="1000" b="1" dirty="0">
              <a:solidFill>
                <a:srgbClr val="1F2A37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4122" name="Group 4121">
            <a:extLst>
              <a:ext uri="{FF2B5EF4-FFF2-40B4-BE49-F238E27FC236}">
                <a16:creationId xmlns:a16="http://schemas.microsoft.com/office/drawing/2014/main" id="{FD36D6D6-2E16-2E3D-121D-49460CFB20A9}"/>
              </a:ext>
            </a:extLst>
          </p:cNvPr>
          <p:cNvGrpSpPr/>
          <p:nvPr/>
        </p:nvGrpSpPr>
        <p:grpSpPr>
          <a:xfrm>
            <a:off x="6646715" y="1113840"/>
            <a:ext cx="1382357" cy="409990"/>
            <a:chOff x="4507825" y="-459432"/>
            <a:chExt cx="940103" cy="738727"/>
          </a:xfrm>
        </p:grpSpPr>
        <p:sp>
          <p:nvSpPr>
            <p:cNvPr id="56" name="Shape 22">
              <a:extLst>
                <a:ext uri="{FF2B5EF4-FFF2-40B4-BE49-F238E27FC236}">
                  <a16:creationId xmlns:a16="http://schemas.microsoft.com/office/drawing/2014/main" id="{75B0A9FC-4A74-F4B0-ED21-7884C599B8BC}"/>
                </a:ext>
              </a:extLst>
            </p:cNvPr>
            <p:cNvSpPr>
              <a:spLocks/>
            </p:cNvSpPr>
            <p:nvPr/>
          </p:nvSpPr>
          <p:spPr>
            <a:xfrm>
              <a:off x="4507825" y="-459432"/>
              <a:ext cx="940103" cy="738727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Text 23">
              <a:extLst>
                <a:ext uri="{FF2B5EF4-FFF2-40B4-BE49-F238E27FC236}">
                  <a16:creationId xmlns:a16="http://schemas.microsoft.com/office/drawing/2014/main" id="{D90349B7-3CDC-9E89-518B-411C9F39B206}"/>
                </a:ext>
              </a:extLst>
            </p:cNvPr>
            <p:cNvSpPr>
              <a:spLocks/>
            </p:cNvSpPr>
            <p:nvPr/>
          </p:nvSpPr>
          <p:spPr>
            <a:xfrm>
              <a:off x="4533568" y="-315416"/>
              <a:ext cx="842352" cy="55689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WHISPER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2</a:t>
              </a:r>
              <a:endParaRPr lang="en-US" sz="10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endParaRPr>
            </a:p>
            <a:p>
              <a:pPr marL="0" indent="0" algn="ctr">
                <a:buNone/>
              </a:pPr>
              <a:endPara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AF4332A-E3AD-82B6-0443-6730E5938928}"/>
              </a:ext>
            </a:extLst>
          </p:cNvPr>
          <p:cNvGrpSpPr/>
          <p:nvPr/>
        </p:nvGrpSpPr>
        <p:grpSpPr>
          <a:xfrm>
            <a:off x="4778008" y="505293"/>
            <a:ext cx="1534016" cy="1091615"/>
            <a:chOff x="4367808" y="404664"/>
            <a:chExt cx="1534016" cy="1091615"/>
          </a:xfrm>
        </p:grpSpPr>
        <p:sp>
          <p:nvSpPr>
            <p:cNvPr id="58" name="Shape 22">
              <a:extLst>
                <a:ext uri="{FF2B5EF4-FFF2-40B4-BE49-F238E27FC236}">
                  <a16:creationId xmlns:a16="http://schemas.microsoft.com/office/drawing/2014/main" id="{0319657B-1AA8-42C5-87A7-4BA1F80EF987}"/>
                </a:ext>
              </a:extLst>
            </p:cNvPr>
            <p:cNvSpPr/>
            <p:nvPr/>
          </p:nvSpPr>
          <p:spPr>
            <a:xfrm>
              <a:off x="4708586" y="404664"/>
              <a:ext cx="864097" cy="869336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CD7D49C1-E308-82F7-9153-3870D17A3F4B}"/>
                </a:ext>
              </a:extLst>
            </p:cNvPr>
            <p:cNvSpPr/>
            <p:nvPr/>
          </p:nvSpPr>
          <p:spPr>
            <a:xfrm>
              <a:off x="4367808" y="483858"/>
              <a:ext cx="1534016" cy="10124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NEXT GEN A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8</a:t>
              </a:r>
            </a:p>
            <a:p>
              <a:pPr marL="0" indent="0" algn="ctr">
                <a:buNone/>
              </a:pPr>
              <a:endParaRPr lang="en-US" sz="10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endParaRPr>
            </a:p>
            <a:p>
              <a:pPr marL="0" indent="0" algn="ctr">
                <a:buNone/>
              </a:pPr>
              <a:endPara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endParaRPr>
            </a:p>
          </p:txBody>
        </p:sp>
      </p:grpSp>
      <p:grpSp>
        <p:nvGrpSpPr>
          <p:cNvPr id="4114" name="Group 4113">
            <a:extLst>
              <a:ext uri="{FF2B5EF4-FFF2-40B4-BE49-F238E27FC236}">
                <a16:creationId xmlns:a16="http://schemas.microsoft.com/office/drawing/2014/main" id="{A6375EC6-B4BC-1EAF-BC85-06EE59BF1945}"/>
              </a:ext>
            </a:extLst>
          </p:cNvPr>
          <p:cNvGrpSpPr/>
          <p:nvPr/>
        </p:nvGrpSpPr>
        <p:grpSpPr>
          <a:xfrm>
            <a:off x="7032104" y="2707045"/>
            <a:ext cx="229258" cy="509682"/>
            <a:chOff x="7090878" y="2707045"/>
            <a:chExt cx="229258" cy="509682"/>
          </a:xfrm>
        </p:grpSpPr>
        <p:sp>
          <p:nvSpPr>
            <p:cNvPr id="4096" name="Shape 28">
              <a:extLst>
                <a:ext uri="{FF2B5EF4-FFF2-40B4-BE49-F238E27FC236}">
                  <a16:creationId xmlns:a16="http://schemas.microsoft.com/office/drawing/2014/main" id="{8CEA6BA7-9CE1-3942-AA83-24B704D27A03}"/>
                </a:ext>
              </a:extLst>
            </p:cNvPr>
            <p:cNvSpPr/>
            <p:nvPr/>
          </p:nvSpPr>
          <p:spPr>
            <a:xfrm>
              <a:off x="7090878" y="2924944"/>
              <a:ext cx="229258" cy="291783"/>
            </a:xfrm>
            <a:prstGeom prst="roundRect">
              <a:avLst>
                <a:gd name="adj" fmla="val 27273"/>
              </a:avLst>
            </a:prstGeom>
            <a:solidFill>
              <a:srgbClr val="E8942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98" name="Shape 27">
              <a:extLst>
                <a:ext uri="{FF2B5EF4-FFF2-40B4-BE49-F238E27FC236}">
                  <a16:creationId xmlns:a16="http://schemas.microsoft.com/office/drawing/2014/main" id="{20E8A191-2684-7CDA-30EB-BE399222863B}"/>
                </a:ext>
              </a:extLst>
            </p:cNvPr>
            <p:cNvSpPr/>
            <p:nvPr/>
          </p:nvSpPr>
          <p:spPr>
            <a:xfrm>
              <a:off x="7129635" y="2707045"/>
              <a:ext cx="145891" cy="145891"/>
            </a:xfrm>
            <a:prstGeom prst="ellipse">
              <a:avLst/>
            </a:prstGeom>
            <a:solidFill>
              <a:srgbClr val="E8942C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3" name="Group 4122">
            <a:extLst>
              <a:ext uri="{FF2B5EF4-FFF2-40B4-BE49-F238E27FC236}">
                <a16:creationId xmlns:a16="http://schemas.microsoft.com/office/drawing/2014/main" id="{5C740399-8FCD-D7C3-F22E-0FFDBCFF3372}"/>
              </a:ext>
            </a:extLst>
          </p:cNvPr>
          <p:cNvGrpSpPr/>
          <p:nvPr/>
        </p:nvGrpSpPr>
        <p:grpSpPr>
          <a:xfrm>
            <a:off x="6220751" y="543232"/>
            <a:ext cx="2240018" cy="542294"/>
            <a:chOff x="6129414" y="73105"/>
            <a:chExt cx="2398112" cy="1012421"/>
          </a:xfrm>
        </p:grpSpPr>
        <p:sp>
          <p:nvSpPr>
            <p:cNvPr id="4101" name="Shape 22">
              <a:extLst>
                <a:ext uri="{FF2B5EF4-FFF2-40B4-BE49-F238E27FC236}">
                  <a16:creationId xmlns:a16="http://schemas.microsoft.com/office/drawing/2014/main" id="{DB110B4C-4182-3694-0581-3F809DE065B9}"/>
                </a:ext>
              </a:extLst>
            </p:cNvPr>
            <p:cNvSpPr/>
            <p:nvPr/>
          </p:nvSpPr>
          <p:spPr>
            <a:xfrm>
              <a:off x="6595876" y="289129"/>
              <a:ext cx="1481374" cy="738727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3" name="Text 23">
              <a:extLst>
                <a:ext uri="{FF2B5EF4-FFF2-40B4-BE49-F238E27FC236}">
                  <a16:creationId xmlns:a16="http://schemas.microsoft.com/office/drawing/2014/main" id="{4084DD92-F985-42FC-3369-643DFD18D4AC}"/>
                </a:ext>
              </a:extLst>
            </p:cNvPr>
            <p:cNvSpPr/>
            <p:nvPr/>
          </p:nvSpPr>
          <p:spPr>
            <a:xfrm>
              <a:off x="6129414" y="73105"/>
              <a:ext cx="2398112" cy="10124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NEXT GEN M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14</a:t>
              </a:r>
              <a:endParaRPr lang="en-US" sz="10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endParaRPr>
            </a:p>
          </p:txBody>
        </p:sp>
      </p:grpSp>
      <p:sp>
        <p:nvSpPr>
          <p:cNvPr id="4105" name="Shape 6">
            <a:extLst>
              <a:ext uri="{FF2B5EF4-FFF2-40B4-BE49-F238E27FC236}">
                <a16:creationId xmlns:a16="http://schemas.microsoft.com/office/drawing/2014/main" id="{3790DC34-19FF-2F49-8EEA-A95847241DDE}"/>
              </a:ext>
            </a:extLst>
          </p:cNvPr>
          <p:cNvSpPr/>
          <p:nvPr/>
        </p:nvSpPr>
        <p:spPr>
          <a:xfrm rot="5400000">
            <a:off x="8304985" y="-413763"/>
            <a:ext cx="331558" cy="1305295"/>
          </a:xfrm>
          <a:prstGeom prst="roundRect">
            <a:avLst>
              <a:gd name="adj" fmla="val 25000"/>
            </a:avLst>
          </a:prstGeom>
          <a:solidFill>
            <a:srgbClr val="E3D3E8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sz="1000" dirty="0"/>
          </a:p>
        </p:txBody>
      </p:sp>
      <p:sp>
        <p:nvSpPr>
          <p:cNvPr id="4107" name="Text 1">
            <a:extLst>
              <a:ext uri="{FF2B5EF4-FFF2-40B4-BE49-F238E27FC236}">
                <a16:creationId xmlns:a16="http://schemas.microsoft.com/office/drawing/2014/main" id="{F663D356-C876-2782-ADA8-F4DEA93D538B}"/>
              </a:ext>
            </a:extLst>
          </p:cNvPr>
          <p:cNvSpPr/>
          <p:nvPr/>
        </p:nvSpPr>
        <p:spPr>
          <a:xfrm rot="5400000">
            <a:off x="8292033" y="-570234"/>
            <a:ext cx="357461" cy="1443161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500" dirty="0"/>
          </a:p>
        </p:txBody>
      </p:sp>
      <p:sp>
        <p:nvSpPr>
          <p:cNvPr id="4109" name="Shape 22">
            <a:extLst>
              <a:ext uri="{FF2B5EF4-FFF2-40B4-BE49-F238E27FC236}">
                <a16:creationId xmlns:a16="http://schemas.microsoft.com/office/drawing/2014/main" id="{3F417FA5-D6DA-DD5B-C21A-E1A59CD028D7}"/>
              </a:ext>
            </a:extLst>
          </p:cNvPr>
          <p:cNvSpPr/>
          <p:nvPr/>
        </p:nvSpPr>
        <p:spPr>
          <a:xfrm>
            <a:off x="5066142" y="2852936"/>
            <a:ext cx="444370" cy="3057941"/>
          </a:xfrm>
          <a:prstGeom prst="roundRect">
            <a:avLst/>
          </a:prstGeom>
          <a:solidFill>
            <a:srgbClr val="E3D3E8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16" name="Shape 20">
            <a:extLst>
              <a:ext uri="{FF2B5EF4-FFF2-40B4-BE49-F238E27FC236}">
                <a16:creationId xmlns:a16="http://schemas.microsoft.com/office/drawing/2014/main" id="{EE0CF216-A468-01CF-F359-979064B1F036}"/>
              </a:ext>
            </a:extLst>
          </p:cNvPr>
          <p:cNvSpPr/>
          <p:nvPr/>
        </p:nvSpPr>
        <p:spPr>
          <a:xfrm>
            <a:off x="6235105" y="1598213"/>
            <a:ext cx="1801112" cy="806446"/>
          </a:xfrm>
          <a:prstGeom prst="roundRect">
            <a:avLst/>
          </a:prstGeom>
          <a:solidFill>
            <a:srgbClr val="E3D3E8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4111" name="Text 23">
            <a:extLst>
              <a:ext uri="{FF2B5EF4-FFF2-40B4-BE49-F238E27FC236}">
                <a16:creationId xmlns:a16="http://schemas.microsoft.com/office/drawing/2014/main" id="{2730CA98-A414-E73C-666A-D4DD6D63046D}"/>
              </a:ext>
            </a:extLst>
          </p:cNvPr>
          <p:cNvSpPr/>
          <p:nvPr/>
        </p:nvSpPr>
        <p:spPr>
          <a:xfrm rot="16200000">
            <a:off x="4570424" y="3946465"/>
            <a:ext cx="1372151" cy="769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MATERIAL</a:t>
            </a:r>
            <a:endParaRPr lang="en-US" sz="1500" dirty="0"/>
          </a:p>
        </p:txBody>
      </p:sp>
      <p:sp>
        <p:nvSpPr>
          <p:cNvPr id="4118" name="Text 23">
            <a:extLst>
              <a:ext uri="{FF2B5EF4-FFF2-40B4-BE49-F238E27FC236}">
                <a16:creationId xmlns:a16="http://schemas.microsoft.com/office/drawing/2014/main" id="{0BD7D2EA-7C11-EF70-6053-972FE5EF3BCF}"/>
              </a:ext>
            </a:extLst>
          </p:cNvPr>
          <p:cNvSpPr/>
          <p:nvPr/>
        </p:nvSpPr>
        <p:spPr>
          <a:xfrm>
            <a:off x="6456040" y="1579609"/>
            <a:ext cx="1372151" cy="769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MATERIAL</a:t>
            </a:r>
            <a:endParaRPr lang="en-US" sz="1500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2BDC194D-F2E1-A04D-28F3-65249B855932}"/>
              </a:ext>
            </a:extLst>
          </p:cNvPr>
          <p:cNvSpPr/>
          <p:nvPr/>
        </p:nvSpPr>
        <p:spPr>
          <a:xfrm>
            <a:off x="6057785" y="6093296"/>
            <a:ext cx="3430531" cy="418480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CBC4467C-9D1D-5454-DD65-79DD1ECC3F57}"/>
              </a:ext>
            </a:extLst>
          </p:cNvPr>
          <p:cNvSpPr/>
          <p:nvPr/>
        </p:nvSpPr>
        <p:spPr>
          <a:xfrm>
            <a:off x="6955469" y="6086591"/>
            <a:ext cx="1732819" cy="438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EPOXY HSP 5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-Fixed assets: 4</a:t>
            </a:r>
            <a:endParaRPr lang="en-US" sz="10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2A883A19-A413-76CC-832C-B30640BEBDAA}"/>
              </a:ext>
            </a:extLst>
          </p:cNvPr>
          <p:cNvSpPr/>
          <p:nvPr/>
        </p:nvSpPr>
        <p:spPr>
          <a:xfrm>
            <a:off x="2994168" y="505293"/>
            <a:ext cx="613759" cy="1300827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9060D1DF-3CDC-0DDB-7C49-F882019E700C}"/>
              </a:ext>
            </a:extLst>
          </p:cNvPr>
          <p:cNvSpPr/>
          <p:nvPr/>
        </p:nvSpPr>
        <p:spPr>
          <a:xfrm>
            <a:off x="2965790" y="758788"/>
            <a:ext cx="669920" cy="1012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WPP 5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14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-Identified: 12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0" name="Shape 4">
            <a:extLst>
              <a:ext uri="{FF2B5EF4-FFF2-40B4-BE49-F238E27FC236}">
                <a16:creationId xmlns:a16="http://schemas.microsoft.com/office/drawing/2014/main" id="{F08DCFE8-B8D0-7AB2-6957-9788FC23306E}"/>
              </a:ext>
            </a:extLst>
          </p:cNvPr>
          <p:cNvSpPr/>
          <p:nvPr/>
        </p:nvSpPr>
        <p:spPr>
          <a:xfrm>
            <a:off x="2313889" y="1093694"/>
            <a:ext cx="613759" cy="720108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04" name="Text 5">
            <a:extLst>
              <a:ext uri="{FF2B5EF4-FFF2-40B4-BE49-F238E27FC236}">
                <a16:creationId xmlns:a16="http://schemas.microsoft.com/office/drawing/2014/main" id="{1055D586-ECF7-AF87-E6BC-C12EA90979F2}"/>
              </a:ext>
            </a:extLst>
          </p:cNvPr>
          <p:cNvSpPr/>
          <p:nvPr/>
        </p:nvSpPr>
        <p:spPr>
          <a:xfrm>
            <a:off x="2272644" y="1125229"/>
            <a:ext cx="669920" cy="673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WPP 2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21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-Identified: 17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8" name="Shape 4">
            <a:extLst>
              <a:ext uri="{FF2B5EF4-FFF2-40B4-BE49-F238E27FC236}">
                <a16:creationId xmlns:a16="http://schemas.microsoft.com/office/drawing/2014/main" id="{4F78711E-FFFC-549D-F8D4-F7A303B0C584}"/>
              </a:ext>
            </a:extLst>
          </p:cNvPr>
          <p:cNvSpPr/>
          <p:nvPr/>
        </p:nvSpPr>
        <p:spPr>
          <a:xfrm>
            <a:off x="2303267" y="502735"/>
            <a:ext cx="613759" cy="548249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12" name="Text 5">
            <a:extLst>
              <a:ext uri="{FF2B5EF4-FFF2-40B4-BE49-F238E27FC236}">
                <a16:creationId xmlns:a16="http://schemas.microsoft.com/office/drawing/2014/main" id="{2777CAE7-B985-DF0C-CA30-5F440DA9B724}"/>
              </a:ext>
            </a:extLst>
          </p:cNvPr>
          <p:cNvSpPr/>
          <p:nvPr/>
        </p:nvSpPr>
        <p:spPr>
          <a:xfrm>
            <a:off x="2257728" y="623307"/>
            <a:ext cx="669920" cy="242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WPP 4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-Identified: 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5" name="Shape 4">
            <a:extLst>
              <a:ext uri="{FF2B5EF4-FFF2-40B4-BE49-F238E27FC236}">
                <a16:creationId xmlns:a16="http://schemas.microsoft.com/office/drawing/2014/main" id="{78DD1808-FA85-6174-E4F7-FB43140B16E7}"/>
              </a:ext>
            </a:extLst>
          </p:cNvPr>
          <p:cNvSpPr/>
          <p:nvPr/>
        </p:nvSpPr>
        <p:spPr>
          <a:xfrm>
            <a:off x="1650901" y="1096252"/>
            <a:ext cx="613759" cy="720108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19" name="Text 5">
            <a:extLst>
              <a:ext uri="{FF2B5EF4-FFF2-40B4-BE49-F238E27FC236}">
                <a16:creationId xmlns:a16="http://schemas.microsoft.com/office/drawing/2014/main" id="{8C1AD37D-2AFF-CADB-015C-45E31C62BCED}"/>
              </a:ext>
            </a:extLst>
          </p:cNvPr>
          <p:cNvSpPr/>
          <p:nvPr/>
        </p:nvSpPr>
        <p:spPr>
          <a:xfrm>
            <a:off x="1609656" y="1127787"/>
            <a:ext cx="669920" cy="673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WPP 1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35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-Identified: 31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1" name="Shape 4">
            <a:extLst>
              <a:ext uri="{FF2B5EF4-FFF2-40B4-BE49-F238E27FC236}">
                <a16:creationId xmlns:a16="http://schemas.microsoft.com/office/drawing/2014/main" id="{CE0BF933-9759-FE5A-BD38-0A9658C45F13}"/>
              </a:ext>
            </a:extLst>
          </p:cNvPr>
          <p:cNvSpPr/>
          <p:nvPr/>
        </p:nvSpPr>
        <p:spPr>
          <a:xfrm>
            <a:off x="1640279" y="505293"/>
            <a:ext cx="613759" cy="548249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25" name="Text 5">
            <a:extLst>
              <a:ext uri="{FF2B5EF4-FFF2-40B4-BE49-F238E27FC236}">
                <a16:creationId xmlns:a16="http://schemas.microsoft.com/office/drawing/2014/main" id="{FFFC71F1-2851-C50B-98DD-B6CBFCE5E472}"/>
              </a:ext>
            </a:extLst>
          </p:cNvPr>
          <p:cNvSpPr/>
          <p:nvPr/>
        </p:nvSpPr>
        <p:spPr>
          <a:xfrm>
            <a:off x="1594740" y="625865"/>
            <a:ext cx="669920" cy="242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WPP 3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10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-Identified: 9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7" name="Shape 4">
            <a:extLst>
              <a:ext uri="{FF2B5EF4-FFF2-40B4-BE49-F238E27FC236}">
                <a16:creationId xmlns:a16="http://schemas.microsoft.com/office/drawing/2014/main" id="{C03F7ACA-6427-2897-F188-92A23572F299}"/>
              </a:ext>
            </a:extLst>
          </p:cNvPr>
          <p:cNvSpPr/>
          <p:nvPr/>
        </p:nvSpPr>
        <p:spPr>
          <a:xfrm>
            <a:off x="983639" y="506449"/>
            <a:ext cx="613759" cy="1300827"/>
          </a:xfrm>
          <a:prstGeom prst="roundRect">
            <a:avLst/>
          </a:prstGeom>
          <a:solidFill>
            <a:srgbClr val="C9DDF2"/>
          </a:solidFill>
          <a:ln w="12700">
            <a:solidFill>
              <a:srgbClr val="3A4A5C"/>
            </a:solidFill>
            <a:prstDash val="solid"/>
          </a:ln>
          <a:effectLst>
            <a:outerShdw blurRad="381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29" name="Text 5">
            <a:extLst>
              <a:ext uri="{FF2B5EF4-FFF2-40B4-BE49-F238E27FC236}">
                <a16:creationId xmlns:a16="http://schemas.microsoft.com/office/drawing/2014/main" id="{8E700F2A-DDBE-C263-388F-CFD94A366A62}"/>
              </a:ext>
            </a:extLst>
          </p:cNvPr>
          <p:cNvSpPr/>
          <p:nvPr/>
        </p:nvSpPr>
        <p:spPr>
          <a:xfrm>
            <a:off x="955261" y="759944"/>
            <a:ext cx="669920" cy="1012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cs typeface="Arial" pitchFamily="34" charset="-120"/>
              </a:rPr>
              <a:t>WPP 6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A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16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8D96126-7041-C3BE-A69B-75B60D3B7D00}"/>
              </a:ext>
            </a:extLst>
          </p:cNvPr>
          <p:cNvGrpSpPr/>
          <p:nvPr/>
        </p:nvGrpSpPr>
        <p:grpSpPr>
          <a:xfrm>
            <a:off x="623392" y="410574"/>
            <a:ext cx="11098078" cy="6036851"/>
            <a:chOff x="110490" y="16743"/>
            <a:chExt cx="11971020" cy="651169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9AA3DD0-5912-C551-061C-48CEA0D48383}"/>
                </a:ext>
              </a:extLst>
            </p:cNvPr>
            <p:cNvGrpSpPr/>
            <p:nvPr/>
          </p:nvGrpSpPr>
          <p:grpSpPr>
            <a:xfrm>
              <a:off x="139064" y="514350"/>
              <a:ext cx="4953001" cy="5938064"/>
              <a:chOff x="139064" y="419100"/>
              <a:chExt cx="4953001" cy="6033314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25E0B2B-953E-30D1-57B4-8E40417F6E75}"/>
                  </a:ext>
                </a:extLst>
              </p:cNvPr>
              <p:cNvGrpSpPr/>
              <p:nvPr/>
            </p:nvGrpSpPr>
            <p:grpSpPr>
              <a:xfrm>
                <a:off x="139064" y="2628900"/>
                <a:ext cx="365761" cy="3810000"/>
                <a:chOff x="91439" y="419100"/>
                <a:chExt cx="365761" cy="1463040"/>
              </a:xfrm>
            </p:grpSpPr>
            <p:sp>
              <p:nvSpPr>
                <p:cNvPr id="82" name="Shape 6">
                  <a:extLst>
                    <a:ext uri="{FF2B5EF4-FFF2-40B4-BE49-F238E27FC236}">
                      <a16:creationId xmlns:a16="http://schemas.microsoft.com/office/drawing/2014/main" id="{CD0A0744-F62A-1F51-8FE1-FD0F22FFF5B0}"/>
                    </a:ext>
                  </a:extLst>
                </p:cNvPr>
                <p:cNvSpPr/>
                <p:nvPr/>
              </p:nvSpPr>
              <p:spPr>
                <a:xfrm>
                  <a:off x="91440" y="419100"/>
                  <a:ext cx="365760" cy="1463040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Text 7">
                  <a:extLst>
                    <a:ext uri="{FF2B5EF4-FFF2-40B4-BE49-F238E27FC236}">
                      <a16:creationId xmlns:a16="http://schemas.microsoft.com/office/drawing/2014/main" id="{4EFF8A1D-B1F9-CF7E-18CE-33148105E6C3}"/>
                    </a:ext>
                  </a:extLst>
                </p:cNvPr>
                <p:cNvSpPr/>
                <p:nvPr/>
              </p:nvSpPr>
              <p:spPr>
                <a:xfrm>
                  <a:off x="91439" y="419100"/>
                  <a:ext cx="365761" cy="1463040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TOOL CRIB</a:t>
                  </a:r>
                  <a:endParaRPr lang="en-US" sz="1100" dirty="0"/>
                </a:p>
              </p:txBody>
            </p:sp>
          </p:grpSp>
          <p:sp>
            <p:nvSpPr>
              <p:cNvPr id="65" name="Shape 36">
                <a:extLst>
                  <a:ext uri="{FF2B5EF4-FFF2-40B4-BE49-F238E27FC236}">
                    <a16:creationId xmlns:a16="http://schemas.microsoft.com/office/drawing/2014/main" id="{35F4ABAD-F041-87F8-48CD-6BE2CC36EF03}"/>
                  </a:ext>
                </a:extLst>
              </p:cNvPr>
              <p:cNvSpPr/>
              <p:nvPr/>
            </p:nvSpPr>
            <p:spPr>
              <a:xfrm>
                <a:off x="977265" y="419100"/>
                <a:ext cx="2606040" cy="2352675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Shape 37">
                <a:extLst>
                  <a:ext uri="{FF2B5EF4-FFF2-40B4-BE49-F238E27FC236}">
                    <a16:creationId xmlns:a16="http://schemas.microsoft.com/office/drawing/2014/main" id="{6F497282-BD59-4D75-BD63-2060D4059BA1}"/>
                  </a:ext>
                </a:extLst>
              </p:cNvPr>
              <p:cNvSpPr/>
              <p:nvPr/>
            </p:nvSpPr>
            <p:spPr>
              <a:xfrm>
                <a:off x="2074545" y="419100"/>
                <a:ext cx="3017520" cy="2724150"/>
              </a:xfrm>
              <a:prstGeom prst="roundRect">
                <a:avLst/>
              </a:prstGeom>
              <a:solidFill>
                <a:srgbClr val="6EEAD6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E2795FE4-F495-8D91-9A4A-1D6EB1B9B6B6}"/>
                  </a:ext>
                </a:extLst>
              </p:cNvPr>
              <p:cNvGrpSpPr/>
              <p:nvPr/>
            </p:nvGrpSpPr>
            <p:grpSpPr>
              <a:xfrm>
                <a:off x="2209800" y="1419225"/>
                <a:ext cx="2743200" cy="864870"/>
                <a:chOff x="2209800" y="1123950"/>
                <a:chExt cx="2743200" cy="864870"/>
              </a:xfrm>
            </p:grpSpPr>
            <p:sp>
              <p:nvSpPr>
                <p:cNvPr id="80" name="Text 38">
                  <a:extLst>
                    <a:ext uri="{FF2B5EF4-FFF2-40B4-BE49-F238E27FC236}">
                      <a16:creationId xmlns:a16="http://schemas.microsoft.com/office/drawing/2014/main" id="{30F7641C-C93A-258D-0EE6-C32E797EF634}"/>
                    </a:ext>
                  </a:extLst>
                </p:cNvPr>
                <p:cNvSpPr/>
                <p:nvPr/>
              </p:nvSpPr>
              <p:spPr>
                <a:xfrm>
                  <a:off x="2209800" y="1123950"/>
                  <a:ext cx="274320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GIOTTO</a:t>
                  </a:r>
                  <a:endParaRPr lang="en-US" sz="1500" dirty="0"/>
                </a:p>
              </p:txBody>
            </p:sp>
            <p:sp>
              <p:nvSpPr>
                <p:cNvPr id="81" name="Text 39">
                  <a:extLst>
                    <a:ext uri="{FF2B5EF4-FFF2-40B4-BE49-F238E27FC236}">
                      <a16:creationId xmlns:a16="http://schemas.microsoft.com/office/drawing/2014/main" id="{07FD25FE-6CD9-5304-153E-F3029BAF7BCD}"/>
                    </a:ext>
                  </a:extLst>
                </p:cNvPr>
                <p:cNvSpPr/>
                <p:nvPr/>
              </p:nvSpPr>
              <p:spPr>
                <a:xfrm>
                  <a:off x="2209800" y="1440180"/>
                  <a:ext cx="274320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>
                    <a:buSzPct val="100000"/>
                  </a:pPr>
                  <a:r>
                    <a:rPr lang="en-US" sz="1000" dirty="0">
                      <a:solidFill>
                        <a:srgbClr val="1F2A37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-Fixed Assets: 89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buSzPct val="100000"/>
                  </a:pPr>
                  <a:r>
                    <a:rPr lang="en-US" sz="1000" dirty="0">
                      <a:solidFill>
                        <a:srgbClr val="1F2A37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-Identified: 5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15AC879E-FDF7-297E-33FE-C12EA51609B0}"/>
                  </a:ext>
                </a:extLst>
              </p:cNvPr>
              <p:cNvGrpSpPr/>
              <p:nvPr/>
            </p:nvGrpSpPr>
            <p:grpSpPr>
              <a:xfrm>
                <a:off x="701216" y="3508058"/>
                <a:ext cx="1298999" cy="2930842"/>
                <a:chOff x="9891513" y="3954780"/>
                <a:chExt cx="1645920" cy="1965960"/>
              </a:xfrm>
            </p:grpSpPr>
            <p:sp>
              <p:nvSpPr>
                <p:cNvPr id="78" name="Shape 47">
                  <a:extLst>
                    <a:ext uri="{FF2B5EF4-FFF2-40B4-BE49-F238E27FC236}">
                      <a16:creationId xmlns:a16="http://schemas.microsoft.com/office/drawing/2014/main" id="{F75CDF64-9F74-0928-F8B7-5C1F4662F65D}"/>
                    </a:ext>
                  </a:extLst>
                </p:cNvPr>
                <p:cNvSpPr/>
                <p:nvPr/>
              </p:nvSpPr>
              <p:spPr>
                <a:xfrm>
                  <a:off x="9891513" y="3954780"/>
                  <a:ext cx="1645920" cy="1965960"/>
                </a:xfrm>
                <a:prstGeom prst="roundRect">
                  <a:avLst/>
                </a:prstGeom>
                <a:solidFill>
                  <a:srgbClr val="C9DDF2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9" name="Text 48">
                  <a:extLst>
                    <a:ext uri="{FF2B5EF4-FFF2-40B4-BE49-F238E27FC236}">
                      <a16:creationId xmlns:a16="http://schemas.microsoft.com/office/drawing/2014/main" id="{5C606DD6-5A9A-DDF3-F8F1-750208BFFC42}"/>
                    </a:ext>
                  </a:extLst>
                </p:cNvPr>
                <p:cNvSpPr/>
                <p:nvPr/>
              </p:nvSpPr>
              <p:spPr>
                <a:xfrm>
                  <a:off x="10028674" y="4023360"/>
                  <a:ext cx="1417319" cy="1828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G3.S</a:t>
                  </a:r>
                  <a:endParaRPr lang="en-US" sz="1500" dirty="0"/>
                </a:p>
                <a:p>
                  <a:pPr algn="ctr">
                    <a:buSzPct val="100000"/>
                  </a:pP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109 (84 machines, 25 fixtures)</a:t>
                  </a:r>
                  <a:endParaRPr lang="en-US" sz="1500" dirty="0"/>
                </a:p>
                <a:p>
                  <a:pPr algn="ctr">
                    <a:buSzPct val="100000"/>
                  </a:pP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25</a:t>
                  </a:r>
                  <a:endParaRPr lang="en-US" sz="1500" dirty="0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D3D2A64D-47E9-38D2-49B4-8146F756EDEF}"/>
                  </a:ext>
                </a:extLst>
              </p:cNvPr>
              <p:cNvGrpSpPr/>
              <p:nvPr/>
            </p:nvGrpSpPr>
            <p:grpSpPr>
              <a:xfrm>
                <a:off x="2108465" y="3508058"/>
                <a:ext cx="1298999" cy="2930842"/>
                <a:chOff x="9891513" y="2103120"/>
                <a:chExt cx="1645920" cy="1691640"/>
              </a:xfrm>
            </p:grpSpPr>
            <p:sp>
              <p:nvSpPr>
                <p:cNvPr id="76" name="Shape 45">
                  <a:extLst>
                    <a:ext uri="{FF2B5EF4-FFF2-40B4-BE49-F238E27FC236}">
                      <a16:creationId xmlns:a16="http://schemas.microsoft.com/office/drawing/2014/main" id="{FAE0086C-6765-15C0-C84E-39C56532AFFD}"/>
                    </a:ext>
                  </a:extLst>
                </p:cNvPr>
                <p:cNvSpPr/>
                <p:nvPr/>
              </p:nvSpPr>
              <p:spPr>
                <a:xfrm>
                  <a:off x="9891513" y="2103120"/>
                  <a:ext cx="1645920" cy="1691640"/>
                </a:xfrm>
                <a:prstGeom prst="roundRect">
                  <a:avLst/>
                </a:prstGeom>
                <a:solidFill>
                  <a:srgbClr val="C9DDF2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7" name="Text 46">
                  <a:extLst>
                    <a:ext uri="{FF2B5EF4-FFF2-40B4-BE49-F238E27FC236}">
                      <a16:creationId xmlns:a16="http://schemas.microsoft.com/office/drawing/2014/main" id="{F472B88B-CE2C-BA73-B432-9520BB9A236A}"/>
                    </a:ext>
                  </a:extLst>
                </p:cNvPr>
                <p:cNvSpPr/>
                <p:nvPr/>
              </p:nvSpPr>
              <p:spPr>
                <a:xfrm>
                  <a:off x="9982953" y="2148840"/>
                  <a:ext cx="1463040" cy="1600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4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QUALITY INJECTION</a:t>
                  </a:r>
                  <a:endParaRPr lang="en-US" sz="1400" dirty="0"/>
                </a:p>
                <a:p>
                  <a:pPr algn="ctr">
                    <a:buSzPct val="100000"/>
                  </a:pPr>
                  <a:endParaRPr lang="en-US" sz="200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endParaRPr>
                </a:p>
                <a:p>
                  <a:pPr algn="ctr">
                    <a:buSzPct val="100000"/>
                  </a:pP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93 </a:t>
                  </a:r>
                  <a:endParaRPr lang="en-US" sz="1000" dirty="0"/>
                </a:p>
                <a:p>
                  <a:pPr algn="ctr">
                    <a:buSzPct val="100000"/>
                  </a:pP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(6 Machines, 87 Fixtures)</a:t>
                  </a:r>
                  <a:endParaRPr lang="en-US" sz="1000" dirty="0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0496B6E8-9339-AC47-099A-2E6DE5FD93DB}"/>
                  </a:ext>
                </a:extLst>
              </p:cNvPr>
              <p:cNvGrpSpPr/>
              <p:nvPr/>
            </p:nvGrpSpPr>
            <p:grpSpPr>
              <a:xfrm>
                <a:off x="3515714" y="3508388"/>
                <a:ext cx="1298999" cy="2930842"/>
                <a:chOff x="8949094" y="777240"/>
                <a:chExt cx="2423160" cy="1188720"/>
              </a:xfrm>
            </p:grpSpPr>
            <p:sp>
              <p:nvSpPr>
                <p:cNvPr id="74" name="Shape 40">
                  <a:extLst>
                    <a:ext uri="{FF2B5EF4-FFF2-40B4-BE49-F238E27FC236}">
                      <a16:creationId xmlns:a16="http://schemas.microsoft.com/office/drawing/2014/main" id="{473DC206-858C-D5F1-D089-5803C830D6B0}"/>
                    </a:ext>
                  </a:extLst>
                </p:cNvPr>
                <p:cNvSpPr/>
                <p:nvPr/>
              </p:nvSpPr>
              <p:spPr>
                <a:xfrm>
                  <a:off x="8949094" y="777240"/>
                  <a:ext cx="2423160" cy="1188720"/>
                </a:xfrm>
                <a:prstGeom prst="roundRect">
                  <a:avLst/>
                </a:prstGeom>
                <a:solidFill>
                  <a:srgbClr val="C9DDF2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5" name="Text 41">
                  <a:extLst>
                    <a:ext uri="{FF2B5EF4-FFF2-40B4-BE49-F238E27FC236}">
                      <a16:creationId xmlns:a16="http://schemas.microsoft.com/office/drawing/2014/main" id="{FC4AA757-6CF2-D7A6-B655-8F8774998E22}"/>
                    </a:ext>
                  </a:extLst>
                </p:cNvPr>
                <p:cNvSpPr/>
                <p:nvPr/>
              </p:nvSpPr>
              <p:spPr>
                <a:xfrm>
                  <a:off x="9121790" y="822960"/>
                  <a:ext cx="2103120" cy="1101399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G3.5</a:t>
                  </a:r>
                  <a:br>
                    <a:rPr lang="en-US" sz="15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38</a:t>
                  </a:r>
                  <a:b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31</a:t>
                  </a:r>
                  <a:endParaRPr lang="en-US" sz="850" dirty="0"/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79BA460-665F-2F61-9F28-00A479870F6E}"/>
                  </a:ext>
                </a:extLst>
              </p:cNvPr>
              <p:cNvGrpSpPr/>
              <p:nvPr/>
            </p:nvGrpSpPr>
            <p:grpSpPr>
              <a:xfrm>
                <a:off x="1319579" y="5715179"/>
                <a:ext cx="3034825" cy="737235"/>
                <a:chOff x="9401296" y="2103120"/>
                <a:chExt cx="689732" cy="3520440"/>
              </a:xfrm>
            </p:grpSpPr>
            <p:sp>
              <p:nvSpPr>
                <p:cNvPr id="72" name="Shape 43">
                  <a:extLst>
                    <a:ext uri="{FF2B5EF4-FFF2-40B4-BE49-F238E27FC236}">
                      <a16:creationId xmlns:a16="http://schemas.microsoft.com/office/drawing/2014/main" id="{AED22865-46BA-A368-8197-CEDE6FF38DBC}"/>
                    </a:ext>
                  </a:extLst>
                </p:cNvPr>
                <p:cNvSpPr/>
                <p:nvPr/>
              </p:nvSpPr>
              <p:spPr>
                <a:xfrm>
                  <a:off x="9401296" y="2103120"/>
                  <a:ext cx="685800" cy="3520440"/>
                </a:xfrm>
                <a:prstGeom prst="roundRect">
                  <a:avLst/>
                </a:prstGeom>
                <a:solidFill>
                  <a:srgbClr val="6EEAD6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Text 44">
                  <a:extLst>
                    <a:ext uri="{FF2B5EF4-FFF2-40B4-BE49-F238E27FC236}">
                      <a16:creationId xmlns:a16="http://schemas.microsoft.com/office/drawing/2014/main" id="{3D4DAFA9-73EC-F63B-E98E-F8B2B2AC26C3}"/>
                    </a:ext>
                  </a:extLst>
                </p:cNvPr>
                <p:cNvSpPr/>
                <p:nvPr/>
              </p:nvSpPr>
              <p:spPr>
                <a:xfrm>
                  <a:off x="9405228" y="2103120"/>
                  <a:ext cx="685800" cy="35204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000000"/>
                      </a:solidFill>
                      <a:latin typeface="Arial" pitchFamily="34" charset="0"/>
                      <a:cs typeface="Arial" pitchFamily="34" charset="-120"/>
                    </a:rPr>
                    <a:t>GIOTTO LOW POWER</a:t>
                  </a:r>
                  <a:endParaRPr lang="en-US" sz="1300" dirty="0"/>
                </a:p>
              </p:txBody>
            </p: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A54F5CB-47EC-238E-ECC5-E3A78675EDAF}"/>
                </a:ext>
              </a:extLst>
            </p:cNvPr>
            <p:cNvGrpSpPr/>
            <p:nvPr/>
          </p:nvGrpSpPr>
          <p:grpSpPr>
            <a:xfrm>
              <a:off x="1228073" y="76402"/>
              <a:ext cx="3611880" cy="329184"/>
              <a:chOff x="6263640" y="256032"/>
              <a:chExt cx="3611880" cy="329184"/>
            </a:xfrm>
          </p:grpSpPr>
          <p:sp>
            <p:nvSpPr>
              <p:cNvPr id="62" name="Shape 34">
                <a:extLst>
                  <a:ext uri="{FF2B5EF4-FFF2-40B4-BE49-F238E27FC236}">
                    <a16:creationId xmlns:a16="http://schemas.microsoft.com/office/drawing/2014/main" id="{8039754F-4A08-60F1-A570-7EE53483877E}"/>
                  </a:ext>
                </a:extLst>
              </p:cNvPr>
              <p:cNvSpPr/>
              <p:nvPr/>
            </p:nvSpPr>
            <p:spPr>
              <a:xfrm>
                <a:off x="6263640" y="292608"/>
                <a:ext cx="256032" cy="256032"/>
              </a:xfrm>
              <a:prstGeom prst="ellipse">
                <a:avLst/>
              </a:prstGeom>
              <a:solidFill>
                <a:srgbClr val="6EEAD6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 35">
                <a:extLst>
                  <a:ext uri="{FF2B5EF4-FFF2-40B4-BE49-F238E27FC236}">
                    <a16:creationId xmlns:a16="http://schemas.microsoft.com/office/drawing/2014/main" id="{D1980399-3FFB-4E68-419B-E8E4D1FE6A04}"/>
                  </a:ext>
                </a:extLst>
              </p:cNvPr>
              <p:cNvSpPr/>
              <p:nvPr/>
            </p:nvSpPr>
            <p:spPr>
              <a:xfrm>
                <a:off x="6583680" y="256032"/>
                <a:ext cx="32918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ESD - Electrostatic discharge area</a:t>
                </a:r>
                <a:endParaRPr lang="en-US" sz="1100" dirty="0"/>
              </a:p>
            </p:txBody>
          </p:sp>
        </p:grpSp>
        <p:sp>
          <p:nvSpPr>
            <p:cNvPr id="5" name="Shape 33">
              <a:extLst>
                <a:ext uri="{FF2B5EF4-FFF2-40B4-BE49-F238E27FC236}">
                  <a16:creationId xmlns:a16="http://schemas.microsoft.com/office/drawing/2014/main" id="{CD5F7DB4-70AC-25AF-78A5-B90717339E32}"/>
                </a:ext>
              </a:extLst>
            </p:cNvPr>
            <p:cNvSpPr/>
            <p:nvPr/>
          </p:nvSpPr>
          <p:spPr>
            <a:xfrm>
              <a:off x="5377053" y="264795"/>
              <a:ext cx="27432" cy="62636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5536C95-76C1-8D92-4185-679175F450EB}"/>
                </a:ext>
              </a:extLst>
            </p:cNvPr>
            <p:cNvGrpSpPr/>
            <p:nvPr/>
          </p:nvGrpSpPr>
          <p:grpSpPr>
            <a:xfrm>
              <a:off x="110490" y="598721"/>
              <a:ext cx="394335" cy="1315803"/>
              <a:chOff x="318135" y="318770"/>
              <a:chExt cx="320040" cy="1005840"/>
            </a:xfrm>
          </p:grpSpPr>
          <p:sp>
            <p:nvSpPr>
              <p:cNvPr id="60" name="Shape 0">
                <a:extLst>
                  <a:ext uri="{FF2B5EF4-FFF2-40B4-BE49-F238E27FC236}">
                    <a16:creationId xmlns:a16="http://schemas.microsoft.com/office/drawing/2014/main" id="{992943C0-5F93-407D-F8F9-A1BFEC19EDF9}"/>
                  </a:ext>
                </a:extLst>
              </p:cNvPr>
              <p:cNvSpPr/>
              <p:nvPr/>
            </p:nvSpPr>
            <p:spPr>
              <a:xfrm>
                <a:off x="318135" y="318770"/>
                <a:ext cx="320040" cy="100584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1">
                <a:extLst>
                  <a:ext uri="{FF2B5EF4-FFF2-40B4-BE49-F238E27FC236}">
                    <a16:creationId xmlns:a16="http://schemas.microsoft.com/office/drawing/2014/main" id="{A4407E47-9579-35EB-E304-1A633E1670E1}"/>
                  </a:ext>
                </a:extLst>
              </p:cNvPr>
              <p:cNvSpPr/>
              <p:nvPr/>
            </p:nvSpPr>
            <p:spPr>
              <a:xfrm>
                <a:off x="318135" y="318770"/>
                <a:ext cx="320040" cy="1005840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ENTRY</a:t>
                </a:r>
                <a:endParaRPr lang="en-US" sz="1100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A3197C2-B4AF-D2D0-4F8B-0067BCA43D24}"/>
                </a:ext>
              </a:extLst>
            </p:cNvPr>
            <p:cNvGrpSpPr/>
            <p:nvPr/>
          </p:nvGrpSpPr>
          <p:grpSpPr>
            <a:xfrm>
              <a:off x="5498973" y="60298"/>
              <a:ext cx="6582537" cy="6401641"/>
              <a:chOff x="5498973" y="60298"/>
              <a:chExt cx="6582537" cy="640164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2FF7CBD-4D0D-6609-B125-5ABF0173AB21}"/>
                  </a:ext>
                </a:extLst>
              </p:cNvPr>
              <p:cNvGrpSpPr/>
              <p:nvPr/>
            </p:nvGrpSpPr>
            <p:grpSpPr>
              <a:xfrm>
                <a:off x="5498973" y="3554542"/>
                <a:ext cx="2743200" cy="777240"/>
                <a:chOff x="5689473" y="3678367"/>
                <a:chExt cx="2743200" cy="777240"/>
              </a:xfrm>
            </p:grpSpPr>
            <p:sp>
              <p:nvSpPr>
                <p:cNvPr id="56" name="Shape 26">
                  <a:extLst>
                    <a:ext uri="{FF2B5EF4-FFF2-40B4-BE49-F238E27FC236}">
                      <a16:creationId xmlns:a16="http://schemas.microsoft.com/office/drawing/2014/main" id="{6AB8153C-CCEE-B502-0BDF-1AE2A4899300}"/>
                    </a:ext>
                  </a:extLst>
                </p:cNvPr>
                <p:cNvSpPr/>
                <p:nvPr/>
              </p:nvSpPr>
              <p:spPr>
                <a:xfrm rot="5400000">
                  <a:off x="6672453" y="2695387"/>
                  <a:ext cx="777240" cy="2743200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BD5A4F56-DF5F-04C4-FDBE-2B347197B57E}"/>
                    </a:ext>
                  </a:extLst>
                </p:cNvPr>
                <p:cNvGrpSpPr/>
                <p:nvPr/>
              </p:nvGrpSpPr>
              <p:grpSpPr>
                <a:xfrm>
                  <a:off x="6896466" y="3819149"/>
                  <a:ext cx="247291" cy="486151"/>
                  <a:chOff x="5766786" y="3800287"/>
                  <a:chExt cx="502920" cy="988695"/>
                </a:xfrm>
              </p:grpSpPr>
              <p:sp>
                <p:nvSpPr>
                  <p:cNvPr id="58" name="Shape 27">
                    <a:extLst>
                      <a:ext uri="{FF2B5EF4-FFF2-40B4-BE49-F238E27FC236}">
                        <a16:creationId xmlns:a16="http://schemas.microsoft.com/office/drawing/2014/main" id="{51FEFAE4-AFDF-54F9-EBCF-71B1C1A521F0}"/>
                      </a:ext>
                    </a:extLst>
                  </p:cNvPr>
                  <p:cNvSpPr/>
                  <p:nvPr/>
                </p:nvSpPr>
                <p:spPr>
                  <a:xfrm>
                    <a:off x="5845739" y="3800287"/>
                    <a:ext cx="320040" cy="320040"/>
                  </a:xfrm>
                  <a:prstGeom prst="ellipse">
                    <a:avLst/>
                  </a:prstGeom>
                  <a:solidFill>
                    <a:srgbClr val="E8942C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9" name="Shape 28">
                    <a:extLst>
                      <a:ext uri="{FF2B5EF4-FFF2-40B4-BE49-F238E27FC236}">
                        <a16:creationId xmlns:a16="http://schemas.microsoft.com/office/drawing/2014/main" id="{1DB58276-6F28-2DA7-7F9C-25B8663DBDC8}"/>
                      </a:ext>
                    </a:extLst>
                  </p:cNvPr>
                  <p:cNvSpPr/>
                  <p:nvPr/>
                </p:nvSpPr>
                <p:spPr>
                  <a:xfrm>
                    <a:off x="5766786" y="4148902"/>
                    <a:ext cx="502920" cy="640080"/>
                  </a:xfrm>
                  <a:prstGeom prst="roundRect">
                    <a:avLst>
                      <a:gd name="adj" fmla="val 27273"/>
                    </a:avLst>
                  </a:prstGeom>
                  <a:solidFill>
                    <a:srgbClr val="E8942C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1543C39-6D7C-F425-1F80-86F0B2949A0A}"/>
                  </a:ext>
                </a:extLst>
              </p:cNvPr>
              <p:cNvGrpSpPr/>
              <p:nvPr/>
            </p:nvGrpSpPr>
            <p:grpSpPr>
              <a:xfrm>
                <a:off x="5516879" y="4436745"/>
                <a:ext cx="2725293" cy="777240"/>
                <a:chOff x="4343400" y="3703320"/>
                <a:chExt cx="777240" cy="2743200"/>
              </a:xfrm>
            </p:grpSpPr>
            <p:sp>
              <p:nvSpPr>
                <p:cNvPr id="54" name="Shape 29">
                  <a:extLst>
                    <a:ext uri="{FF2B5EF4-FFF2-40B4-BE49-F238E27FC236}">
                      <a16:creationId xmlns:a16="http://schemas.microsoft.com/office/drawing/2014/main" id="{15E67BCC-3003-CB5E-2771-F703A517F16D}"/>
                    </a:ext>
                  </a:extLst>
                </p:cNvPr>
                <p:cNvSpPr/>
                <p:nvPr/>
              </p:nvSpPr>
              <p:spPr>
                <a:xfrm>
                  <a:off x="4343400" y="3703320"/>
                  <a:ext cx="777240" cy="2743200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Text 30">
                  <a:extLst>
                    <a:ext uri="{FF2B5EF4-FFF2-40B4-BE49-F238E27FC236}">
                      <a16:creationId xmlns:a16="http://schemas.microsoft.com/office/drawing/2014/main" id="{A308010D-EC41-A41C-445D-B4FBA14E9A9C}"/>
                    </a:ext>
                  </a:extLst>
                </p:cNvPr>
                <p:cNvSpPr/>
                <p:nvPr/>
              </p:nvSpPr>
              <p:spPr>
                <a:xfrm>
                  <a:off x="4389120" y="3703320"/>
                  <a:ext cx="685800" cy="27432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QUARANTINE AREA</a:t>
                  </a:r>
                  <a:endParaRPr lang="en-US" sz="900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E9807A2-B084-D4C1-E427-6CF1A8A8DF90}"/>
                  </a:ext>
                </a:extLst>
              </p:cNvPr>
              <p:cNvGrpSpPr/>
              <p:nvPr/>
            </p:nvGrpSpPr>
            <p:grpSpPr>
              <a:xfrm>
                <a:off x="5507926" y="5338198"/>
                <a:ext cx="2725293" cy="777240"/>
                <a:chOff x="4343400" y="3703320"/>
                <a:chExt cx="777240" cy="2743200"/>
              </a:xfrm>
              <a:solidFill>
                <a:srgbClr val="C9DDF2"/>
              </a:solidFill>
            </p:grpSpPr>
            <p:sp>
              <p:nvSpPr>
                <p:cNvPr id="52" name="Shape 29">
                  <a:extLst>
                    <a:ext uri="{FF2B5EF4-FFF2-40B4-BE49-F238E27FC236}">
                      <a16:creationId xmlns:a16="http://schemas.microsoft.com/office/drawing/2014/main" id="{2E77D592-4D96-684C-A0AC-B6D25FAE4640}"/>
                    </a:ext>
                  </a:extLst>
                </p:cNvPr>
                <p:cNvSpPr/>
                <p:nvPr/>
              </p:nvSpPr>
              <p:spPr>
                <a:xfrm>
                  <a:off x="4343400" y="3703320"/>
                  <a:ext cx="777240" cy="2743200"/>
                </a:xfrm>
                <a:prstGeom prst="roundRect">
                  <a:avLst/>
                </a:prstGeom>
                <a:grpFill/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" name="Text 30">
                  <a:extLst>
                    <a:ext uri="{FF2B5EF4-FFF2-40B4-BE49-F238E27FC236}">
                      <a16:creationId xmlns:a16="http://schemas.microsoft.com/office/drawing/2014/main" id="{2EAFC51A-E8B6-28F1-81CD-0B4F3D030625}"/>
                    </a:ext>
                  </a:extLst>
                </p:cNvPr>
                <p:cNvSpPr/>
                <p:nvPr/>
              </p:nvSpPr>
              <p:spPr>
                <a:xfrm>
                  <a:off x="4389120" y="3854598"/>
                  <a:ext cx="685800" cy="2462806"/>
                </a:xfrm>
                <a:prstGeom prst="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DISPOSAL AREA</a:t>
                  </a:r>
                  <a:b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br>
                    <a:rPr lang="en-US" sz="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7</a:t>
                  </a:r>
                  <a:endParaRPr lang="en-US" sz="850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C73F2E5-26D6-88C5-833D-61BCB973AA29}"/>
                  </a:ext>
                </a:extLst>
              </p:cNvPr>
              <p:cNvGrpSpPr/>
              <p:nvPr/>
            </p:nvGrpSpPr>
            <p:grpSpPr>
              <a:xfrm>
                <a:off x="5498973" y="514350"/>
                <a:ext cx="2734246" cy="2315533"/>
                <a:chOff x="5689473" y="514350"/>
                <a:chExt cx="2734246" cy="2315533"/>
              </a:xfrm>
            </p:grpSpPr>
            <p:sp>
              <p:nvSpPr>
                <p:cNvPr id="50" name="Shape 36">
                  <a:extLst>
                    <a:ext uri="{FF2B5EF4-FFF2-40B4-BE49-F238E27FC236}">
                      <a16:creationId xmlns:a16="http://schemas.microsoft.com/office/drawing/2014/main" id="{0BD5AC79-6E7B-F155-CD1D-D830E8E027CB}"/>
                    </a:ext>
                  </a:extLst>
                </p:cNvPr>
                <p:cNvSpPr/>
                <p:nvPr/>
              </p:nvSpPr>
              <p:spPr>
                <a:xfrm>
                  <a:off x="5689473" y="514350"/>
                  <a:ext cx="2734246" cy="2315533"/>
                </a:xfrm>
                <a:prstGeom prst="roundRect">
                  <a:avLst/>
                </a:prstGeom>
                <a:solidFill>
                  <a:srgbClr val="C9DDF2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Text 13">
                  <a:extLst>
                    <a:ext uri="{FF2B5EF4-FFF2-40B4-BE49-F238E27FC236}">
                      <a16:creationId xmlns:a16="http://schemas.microsoft.com/office/drawing/2014/main" id="{B9EA7048-0830-4ED0-051E-802BAA07F0D4}"/>
                    </a:ext>
                  </a:extLst>
                </p:cNvPr>
                <p:cNvSpPr/>
                <p:nvPr/>
              </p:nvSpPr>
              <p:spPr>
                <a:xfrm>
                  <a:off x="5863351" y="1159671"/>
                  <a:ext cx="2377440" cy="10058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INJECTION TAYU MACHINE</a:t>
                  </a:r>
                  <a:br>
                    <a:rPr lang="en-US" sz="15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16</a:t>
                  </a:r>
                  <a:b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2</a:t>
                  </a:r>
                  <a:endParaRPr lang="en-US" sz="850" dirty="0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C22F5C7-0348-0224-FD01-EB9805052323}"/>
                  </a:ext>
                </a:extLst>
              </p:cNvPr>
              <p:cNvGrpSpPr/>
              <p:nvPr/>
            </p:nvGrpSpPr>
            <p:grpSpPr>
              <a:xfrm>
                <a:off x="8683714" y="3913461"/>
                <a:ext cx="2725293" cy="777240"/>
                <a:chOff x="4306500" y="3703320"/>
                <a:chExt cx="777240" cy="2743200"/>
              </a:xfrm>
              <a:solidFill>
                <a:srgbClr val="C9DDF2"/>
              </a:solidFill>
            </p:grpSpPr>
            <p:sp>
              <p:nvSpPr>
                <p:cNvPr id="48" name="Shape 29">
                  <a:extLst>
                    <a:ext uri="{FF2B5EF4-FFF2-40B4-BE49-F238E27FC236}">
                      <a16:creationId xmlns:a16="http://schemas.microsoft.com/office/drawing/2014/main" id="{30DC3159-B07F-BACA-2B35-948EA8C44947}"/>
                    </a:ext>
                  </a:extLst>
                </p:cNvPr>
                <p:cNvSpPr/>
                <p:nvPr/>
              </p:nvSpPr>
              <p:spPr>
                <a:xfrm>
                  <a:off x="4306500" y="3703320"/>
                  <a:ext cx="777240" cy="2743200"/>
                </a:xfrm>
                <a:prstGeom prst="roundRect">
                  <a:avLst/>
                </a:prstGeom>
                <a:grpFill/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9" name="Text 30">
                  <a:extLst>
                    <a:ext uri="{FF2B5EF4-FFF2-40B4-BE49-F238E27FC236}">
                      <a16:creationId xmlns:a16="http://schemas.microsoft.com/office/drawing/2014/main" id="{68E99841-0A65-19A5-074F-8E4B6D8E0660}"/>
                    </a:ext>
                  </a:extLst>
                </p:cNvPr>
                <p:cNvSpPr/>
                <p:nvPr/>
              </p:nvSpPr>
              <p:spPr>
                <a:xfrm>
                  <a:off x="4352219" y="3854598"/>
                  <a:ext cx="685800" cy="2462806"/>
                </a:xfrm>
                <a:prstGeom prst="round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CFM A</a:t>
                  </a:r>
                  <a:b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br>
                    <a:rPr lang="en-US" sz="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9</a:t>
                  </a:r>
                  <a:b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1</a:t>
                  </a:r>
                  <a:endParaRPr lang="en-US" sz="850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B98728B-9125-1960-ADDF-85CF2B6A8544}"/>
                  </a:ext>
                </a:extLst>
              </p:cNvPr>
              <p:cNvGrpSpPr/>
              <p:nvPr/>
            </p:nvGrpSpPr>
            <p:grpSpPr>
              <a:xfrm>
                <a:off x="8683714" y="4733563"/>
                <a:ext cx="2725293" cy="777240"/>
                <a:chOff x="4306500" y="3703320"/>
                <a:chExt cx="777240" cy="2743200"/>
              </a:xfrm>
              <a:solidFill>
                <a:srgbClr val="C9DDF2"/>
              </a:solidFill>
            </p:grpSpPr>
            <p:sp>
              <p:nvSpPr>
                <p:cNvPr id="46" name="Shape 29">
                  <a:extLst>
                    <a:ext uri="{FF2B5EF4-FFF2-40B4-BE49-F238E27FC236}">
                      <a16:creationId xmlns:a16="http://schemas.microsoft.com/office/drawing/2014/main" id="{13AC2AB9-2E72-33CA-2640-678BB0423EDA}"/>
                    </a:ext>
                  </a:extLst>
                </p:cNvPr>
                <p:cNvSpPr/>
                <p:nvPr/>
              </p:nvSpPr>
              <p:spPr>
                <a:xfrm>
                  <a:off x="4306500" y="3703320"/>
                  <a:ext cx="777240" cy="2743200"/>
                </a:xfrm>
                <a:prstGeom prst="roundRect">
                  <a:avLst/>
                </a:prstGeom>
                <a:grpFill/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7" name="Text 30">
                  <a:extLst>
                    <a:ext uri="{FF2B5EF4-FFF2-40B4-BE49-F238E27FC236}">
                      <a16:creationId xmlns:a16="http://schemas.microsoft.com/office/drawing/2014/main" id="{D9B71C5E-229E-1FF2-43B3-BB622B2432A9}"/>
                    </a:ext>
                  </a:extLst>
                </p:cNvPr>
                <p:cNvSpPr/>
                <p:nvPr/>
              </p:nvSpPr>
              <p:spPr>
                <a:xfrm>
                  <a:off x="4352219" y="3854598"/>
                  <a:ext cx="685800" cy="2462806"/>
                </a:xfrm>
                <a:prstGeom prst="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CFM B</a:t>
                  </a:r>
                  <a:b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br>
                    <a:rPr lang="en-US" sz="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10</a:t>
                  </a:r>
                  <a:b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3</a:t>
                  </a:r>
                  <a:endParaRPr lang="en-US" sz="850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B4193A6-C49B-11BE-F22A-B4B7AE2DD794}"/>
                  </a:ext>
                </a:extLst>
              </p:cNvPr>
              <p:cNvGrpSpPr/>
              <p:nvPr/>
            </p:nvGrpSpPr>
            <p:grpSpPr>
              <a:xfrm>
                <a:off x="8675802" y="5553665"/>
                <a:ext cx="2725293" cy="777240"/>
                <a:chOff x="4306500" y="3703320"/>
                <a:chExt cx="777240" cy="2743200"/>
              </a:xfrm>
              <a:solidFill>
                <a:srgbClr val="C9DDF2"/>
              </a:solidFill>
            </p:grpSpPr>
            <p:sp>
              <p:nvSpPr>
                <p:cNvPr id="44" name="Shape 29">
                  <a:extLst>
                    <a:ext uri="{FF2B5EF4-FFF2-40B4-BE49-F238E27FC236}">
                      <a16:creationId xmlns:a16="http://schemas.microsoft.com/office/drawing/2014/main" id="{01F57281-2528-41A0-ECA6-4BC732000464}"/>
                    </a:ext>
                  </a:extLst>
                </p:cNvPr>
                <p:cNvSpPr/>
                <p:nvPr/>
              </p:nvSpPr>
              <p:spPr>
                <a:xfrm>
                  <a:off x="4306500" y="3703320"/>
                  <a:ext cx="777240" cy="2743200"/>
                </a:xfrm>
                <a:prstGeom prst="roundRect">
                  <a:avLst/>
                </a:prstGeom>
                <a:grpFill/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5" name="Text 30">
                  <a:extLst>
                    <a:ext uri="{FF2B5EF4-FFF2-40B4-BE49-F238E27FC236}">
                      <a16:creationId xmlns:a16="http://schemas.microsoft.com/office/drawing/2014/main" id="{D67BCCF3-4027-EE04-8247-2D1A13337B70}"/>
                    </a:ext>
                  </a:extLst>
                </p:cNvPr>
                <p:cNvSpPr/>
                <p:nvPr/>
              </p:nvSpPr>
              <p:spPr>
                <a:xfrm>
                  <a:off x="4352219" y="3854598"/>
                  <a:ext cx="685800" cy="2462806"/>
                </a:xfrm>
                <a:prstGeom prst="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CFM C</a:t>
                  </a:r>
                  <a:b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br>
                    <a:rPr lang="en-US" sz="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9</a:t>
                  </a:r>
                  <a:b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1</a:t>
                  </a:r>
                  <a:endParaRPr lang="en-US" sz="850" dirty="0"/>
                </a:p>
              </p:txBody>
            </p:sp>
          </p:grpSp>
          <p:sp>
            <p:nvSpPr>
              <p:cNvPr id="25" name="Shape 25">
                <a:extLst>
                  <a:ext uri="{FF2B5EF4-FFF2-40B4-BE49-F238E27FC236}">
                    <a16:creationId xmlns:a16="http://schemas.microsoft.com/office/drawing/2014/main" id="{9ABF2046-ED67-2769-49A6-C48686A6B353}"/>
                  </a:ext>
                </a:extLst>
              </p:cNvPr>
              <p:cNvSpPr/>
              <p:nvPr/>
            </p:nvSpPr>
            <p:spPr>
              <a:xfrm rot="5400000">
                <a:off x="8198529" y="4043972"/>
                <a:ext cx="706153" cy="514141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AC079E4-7E5D-6CC9-E419-D4A0193B4666}"/>
                  </a:ext>
                </a:extLst>
              </p:cNvPr>
              <p:cNvGrpSpPr/>
              <p:nvPr/>
            </p:nvGrpSpPr>
            <p:grpSpPr>
              <a:xfrm>
                <a:off x="10033096" y="3075452"/>
                <a:ext cx="1503101" cy="777240"/>
                <a:chOff x="10033096" y="3075452"/>
                <a:chExt cx="1503101" cy="777240"/>
              </a:xfrm>
            </p:grpSpPr>
            <p:sp>
              <p:nvSpPr>
                <p:cNvPr id="42" name="Shape 26">
                  <a:extLst>
                    <a:ext uri="{FF2B5EF4-FFF2-40B4-BE49-F238E27FC236}">
                      <a16:creationId xmlns:a16="http://schemas.microsoft.com/office/drawing/2014/main" id="{1F9B39FB-FD46-59C7-5FFB-05500E4040B0}"/>
                    </a:ext>
                  </a:extLst>
                </p:cNvPr>
                <p:cNvSpPr/>
                <p:nvPr/>
              </p:nvSpPr>
              <p:spPr>
                <a:xfrm rot="5400000">
                  <a:off x="10393169" y="2715379"/>
                  <a:ext cx="777240" cy="1497385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3" name="Text 30">
                  <a:extLst>
                    <a:ext uri="{FF2B5EF4-FFF2-40B4-BE49-F238E27FC236}">
                      <a16:creationId xmlns:a16="http://schemas.microsoft.com/office/drawing/2014/main" id="{2C60818D-8493-68D6-0392-1193902627E4}"/>
                    </a:ext>
                  </a:extLst>
                </p:cNvPr>
                <p:cNvSpPr/>
                <p:nvPr/>
              </p:nvSpPr>
              <p:spPr>
                <a:xfrm>
                  <a:off x="10042620" y="3115173"/>
                  <a:ext cx="1493577" cy="697795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MOLD</a:t>
                  </a:r>
                  <a:br>
                    <a:rPr lang="en-US" sz="1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br>
                    <a:rPr lang="en-US" sz="200" b="1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000000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42</a:t>
                  </a:r>
                  <a:endParaRPr lang="en-US" sz="850" dirty="0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76AD662-907A-D8E4-41D8-5C6BE5390F29}"/>
                  </a:ext>
                </a:extLst>
              </p:cNvPr>
              <p:cNvGrpSpPr/>
              <p:nvPr/>
            </p:nvGrpSpPr>
            <p:grpSpPr>
              <a:xfrm>
                <a:off x="8868155" y="527095"/>
                <a:ext cx="2813114" cy="2315533"/>
                <a:chOff x="5689473" y="514350"/>
                <a:chExt cx="2734246" cy="2315533"/>
              </a:xfrm>
            </p:grpSpPr>
            <p:sp>
              <p:nvSpPr>
                <p:cNvPr id="40" name="Shape 36">
                  <a:extLst>
                    <a:ext uri="{FF2B5EF4-FFF2-40B4-BE49-F238E27FC236}">
                      <a16:creationId xmlns:a16="http://schemas.microsoft.com/office/drawing/2014/main" id="{63509C00-6503-9C5A-44DD-4D1B51531A8F}"/>
                    </a:ext>
                  </a:extLst>
                </p:cNvPr>
                <p:cNvSpPr/>
                <p:nvPr/>
              </p:nvSpPr>
              <p:spPr>
                <a:xfrm>
                  <a:off x="5689473" y="514350"/>
                  <a:ext cx="2734246" cy="2315533"/>
                </a:xfrm>
                <a:prstGeom prst="roundRect">
                  <a:avLst/>
                </a:prstGeom>
                <a:solidFill>
                  <a:srgbClr val="C9DDF2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Text 13">
                  <a:extLst>
                    <a:ext uri="{FF2B5EF4-FFF2-40B4-BE49-F238E27FC236}">
                      <a16:creationId xmlns:a16="http://schemas.microsoft.com/office/drawing/2014/main" id="{C763F4E8-742D-F102-F62E-9224C5A28FCB}"/>
                    </a:ext>
                  </a:extLst>
                </p:cNvPr>
                <p:cNvSpPr/>
                <p:nvPr/>
              </p:nvSpPr>
              <p:spPr>
                <a:xfrm>
                  <a:off x="5863351" y="1159671"/>
                  <a:ext cx="2377440" cy="10058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DEMAG INJECTION</a:t>
                  </a:r>
                  <a:br>
                    <a:rPr lang="en-US" sz="15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-Fixed Assets: 34</a:t>
                  </a:r>
                  <a:b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</a:br>
                  <a:r>
                    <a:rPr lang="en-US" sz="850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-Identified: 20</a:t>
                  </a:r>
                  <a:endParaRPr lang="en-US" sz="850" dirty="0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D4AAB0C-F3EC-1F6A-82FF-6DC6F3F84E42}"/>
                  </a:ext>
                </a:extLst>
              </p:cNvPr>
              <p:cNvGrpSpPr/>
              <p:nvPr/>
            </p:nvGrpSpPr>
            <p:grpSpPr>
              <a:xfrm>
                <a:off x="11715750" y="5012472"/>
                <a:ext cx="365760" cy="1449467"/>
                <a:chOff x="11715750" y="5012472"/>
                <a:chExt cx="365760" cy="1449467"/>
              </a:xfrm>
            </p:grpSpPr>
            <p:sp>
              <p:nvSpPr>
                <p:cNvPr id="38" name="Shape 6">
                  <a:extLst>
                    <a:ext uri="{FF2B5EF4-FFF2-40B4-BE49-F238E27FC236}">
                      <a16:creationId xmlns:a16="http://schemas.microsoft.com/office/drawing/2014/main" id="{99CCB0FA-43C8-E360-8E3E-ED76E137F494}"/>
                    </a:ext>
                  </a:extLst>
                </p:cNvPr>
                <p:cNvSpPr/>
                <p:nvPr/>
              </p:nvSpPr>
              <p:spPr>
                <a:xfrm>
                  <a:off x="11715750" y="5021997"/>
                  <a:ext cx="365760" cy="1439942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Text 7">
                  <a:extLst>
                    <a:ext uri="{FF2B5EF4-FFF2-40B4-BE49-F238E27FC236}">
                      <a16:creationId xmlns:a16="http://schemas.microsoft.com/office/drawing/2014/main" id="{5FDD2EAD-6B47-A433-B572-07F68C036D6F}"/>
                    </a:ext>
                  </a:extLst>
                </p:cNvPr>
                <p:cNvSpPr/>
                <p:nvPr/>
              </p:nvSpPr>
              <p:spPr>
                <a:xfrm>
                  <a:off x="11715750" y="5012472"/>
                  <a:ext cx="365760" cy="1439942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TOOL ROOM 2</a:t>
                  </a:r>
                  <a:endParaRPr lang="en-US" sz="80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6AB0335-631B-04D7-C8A1-5A359ACD1042}"/>
                  </a:ext>
                </a:extLst>
              </p:cNvPr>
              <p:cNvGrpSpPr/>
              <p:nvPr/>
            </p:nvGrpSpPr>
            <p:grpSpPr>
              <a:xfrm>
                <a:off x="11715750" y="2162615"/>
                <a:ext cx="365760" cy="1449467"/>
                <a:chOff x="11715750" y="5012472"/>
                <a:chExt cx="365760" cy="1449467"/>
              </a:xfrm>
            </p:grpSpPr>
            <p:sp>
              <p:nvSpPr>
                <p:cNvPr id="36" name="Shape 6">
                  <a:extLst>
                    <a:ext uri="{FF2B5EF4-FFF2-40B4-BE49-F238E27FC236}">
                      <a16:creationId xmlns:a16="http://schemas.microsoft.com/office/drawing/2014/main" id="{442EAB91-06E1-D2CE-B828-B6BF7E5615BE}"/>
                    </a:ext>
                  </a:extLst>
                </p:cNvPr>
                <p:cNvSpPr/>
                <p:nvPr/>
              </p:nvSpPr>
              <p:spPr>
                <a:xfrm>
                  <a:off x="11715750" y="5021997"/>
                  <a:ext cx="365760" cy="1439942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7" name="Text 7">
                  <a:extLst>
                    <a:ext uri="{FF2B5EF4-FFF2-40B4-BE49-F238E27FC236}">
                      <a16:creationId xmlns:a16="http://schemas.microsoft.com/office/drawing/2014/main" id="{8C6EBE95-DAEA-CC43-6640-813063F336EC}"/>
                    </a:ext>
                  </a:extLst>
                </p:cNvPr>
                <p:cNvSpPr/>
                <p:nvPr/>
              </p:nvSpPr>
              <p:spPr>
                <a:xfrm>
                  <a:off x="11715750" y="5012472"/>
                  <a:ext cx="365760" cy="1439942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s-MX" sz="1100" b="1" dirty="0">
                      <a:solidFill>
                        <a:srgbClr val="1F2A37"/>
                      </a:solidFill>
                      <a:latin typeface="Arial" pitchFamily="34" charset="0"/>
                      <a:cs typeface="Arial" pitchFamily="34" charset="-120"/>
                    </a:rPr>
                    <a:t>W</a:t>
                  </a:r>
                  <a:r>
                    <a:rPr lang="en-US" sz="1100" b="1" dirty="0">
                      <a:solidFill>
                        <a:srgbClr val="1F2A37"/>
                      </a:solidFill>
                      <a:latin typeface="Arial" pitchFamily="34" charset="0"/>
                      <a:cs typeface="Arial" pitchFamily="34" charset="-120"/>
                    </a:rPr>
                    <a:t>C</a:t>
                  </a:r>
                  <a:endParaRPr lang="en-US" sz="800" dirty="0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8FCCB96-5C08-2B05-5F62-D414845BA047}"/>
                  </a:ext>
                </a:extLst>
              </p:cNvPr>
              <p:cNvGrpSpPr/>
              <p:nvPr/>
            </p:nvGrpSpPr>
            <p:grpSpPr>
              <a:xfrm>
                <a:off x="11715750" y="598722"/>
                <a:ext cx="365760" cy="1449467"/>
                <a:chOff x="11715750" y="5012472"/>
                <a:chExt cx="365760" cy="1449467"/>
              </a:xfrm>
            </p:grpSpPr>
            <p:sp>
              <p:nvSpPr>
                <p:cNvPr id="34" name="Shape 6">
                  <a:extLst>
                    <a:ext uri="{FF2B5EF4-FFF2-40B4-BE49-F238E27FC236}">
                      <a16:creationId xmlns:a16="http://schemas.microsoft.com/office/drawing/2014/main" id="{1C8557FD-A5C4-A7AD-EB43-07676EF0689B}"/>
                    </a:ext>
                  </a:extLst>
                </p:cNvPr>
                <p:cNvSpPr/>
                <p:nvPr/>
              </p:nvSpPr>
              <p:spPr>
                <a:xfrm>
                  <a:off x="11715750" y="5021997"/>
                  <a:ext cx="365760" cy="1439942"/>
                </a:xfrm>
                <a:prstGeom prst="roundRect">
                  <a:avLst/>
                </a:prstGeom>
                <a:solidFill>
                  <a:srgbClr val="E3D3E8"/>
                </a:solidFill>
                <a:ln w="12700">
                  <a:solidFill>
                    <a:srgbClr val="3A4A5C"/>
                  </a:solidFill>
                  <a:prstDash val="solid"/>
                </a:ln>
                <a:effectLst>
                  <a:outerShdw blurRad="38100" dist="25400" dir="5400000" algn="bl" rotWithShape="0">
                    <a:srgbClr val="888888">
                      <a:alpha val="25000"/>
                    </a:srgbClr>
                  </a:outerShdw>
                </a:effec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Text 7">
                  <a:extLst>
                    <a:ext uri="{FF2B5EF4-FFF2-40B4-BE49-F238E27FC236}">
                      <a16:creationId xmlns:a16="http://schemas.microsoft.com/office/drawing/2014/main" id="{B9B08A8E-EEAF-DA08-EDDB-D6B9E9F1789A}"/>
                    </a:ext>
                  </a:extLst>
                </p:cNvPr>
                <p:cNvSpPr/>
                <p:nvPr/>
              </p:nvSpPr>
              <p:spPr>
                <a:xfrm>
                  <a:off x="11715750" y="5012472"/>
                  <a:ext cx="365760" cy="1439942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s-MX" sz="1100" b="1" dirty="0">
                      <a:solidFill>
                        <a:srgbClr val="1F2A37"/>
                      </a:solidFill>
                      <a:latin typeface="Arial" pitchFamily="34" charset="0"/>
                      <a:cs typeface="Arial" pitchFamily="34" charset="-120"/>
                    </a:rPr>
                    <a:t>SCRAP</a:t>
                  </a:r>
                  <a:endParaRPr lang="en-US" sz="800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4D5E0EC-C578-9735-1746-0040C2745931}"/>
                  </a:ext>
                </a:extLst>
              </p:cNvPr>
              <p:cNvGrpSpPr/>
              <p:nvPr/>
            </p:nvGrpSpPr>
            <p:grpSpPr>
              <a:xfrm rot="5400000">
                <a:off x="8369372" y="-454484"/>
                <a:ext cx="394335" cy="1423900"/>
                <a:chOff x="318135" y="318770"/>
                <a:chExt cx="320040" cy="1005840"/>
              </a:xfrm>
            </p:grpSpPr>
            <p:sp>
              <p:nvSpPr>
                <p:cNvPr id="32" name="Shape 0">
                  <a:extLst>
                    <a:ext uri="{FF2B5EF4-FFF2-40B4-BE49-F238E27FC236}">
                      <a16:creationId xmlns:a16="http://schemas.microsoft.com/office/drawing/2014/main" id="{8733DA1F-3D88-D333-56F5-3909DB218108}"/>
                    </a:ext>
                  </a:extLst>
                </p:cNvPr>
                <p:cNvSpPr/>
                <p:nvPr/>
              </p:nvSpPr>
              <p:spPr>
                <a:xfrm>
                  <a:off x="318135" y="318770"/>
                  <a:ext cx="320040" cy="1005840"/>
                </a:xfrm>
                <a:prstGeom prst="roundRect">
                  <a:avLst>
                    <a:gd name="adj" fmla="val 28571"/>
                  </a:avLst>
                </a:prstGeom>
                <a:solidFill>
                  <a:srgbClr val="FFFFFF"/>
                </a:solidFill>
                <a:ln w="12700">
                  <a:solidFill>
                    <a:srgbClr val="3A4A5C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Text 1">
                  <a:extLst>
                    <a:ext uri="{FF2B5EF4-FFF2-40B4-BE49-F238E27FC236}">
                      <a16:creationId xmlns:a16="http://schemas.microsoft.com/office/drawing/2014/main" id="{7F661409-8A4E-B165-F282-4378A8A09DA2}"/>
                    </a:ext>
                  </a:extLst>
                </p:cNvPr>
                <p:cNvSpPr/>
                <p:nvPr/>
              </p:nvSpPr>
              <p:spPr>
                <a:xfrm>
                  <a:off x="318135" y="318770"/>
                  <a:ext cx="320040" cy="1005840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1F2A37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EXPANSION ENTRY</a:t>
                  </a:r>
                  <a:endParaRPr lang="en-US" sz="1000" dirty="0"/>
                </a:p>
              </p:txBody>
            </p:sp>
          </p:grpSp>
        </p:grp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15DB524-B6FC-7D36-CB32-5546154E9AED}"/>
                </a:ext>
              </a:extLst>
            </p:cNvPr>
            <p:cNvSpPr/>
            <p:nvPr/>
          </p:nvSpPr>
          <p:spPr>
            <a:xfrm rot="16200000">
              <a:off x="9221808" y="109858"/>
              <a:ext cx="394336" cy="208106"/>
            </a:xfrm>
            <a:prstGeom prst="rightArrow">
              <a:avLst>
                <a:gd name="adj1" fmla="val 36875"/>
                <a:gd name="adj2" fmla="val 7406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BD08143-258F-D182-1A4E-15E8C9879844}"/>
                </a:ext>
              </a:extLst>
            </p:cNvPr>
            <p:cNvSpPr/>
            <p:nvPr/>
          </p:nvSpPr>
          <p:spPr>
            <a:xfrm>
              <a:off x="159863" y="332086"/>
              <a:ext cx="394336" cy="208106"/>
            </a:xfrm>
            <a:prstGeom prst="rightArrow">
              <a:avLst>
                <a:gd name="adj1" fmla="val 36875"/>
                <a:gd name="adj2" fmla="val 7406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hape 40">
              <a:extLst>
                <a:ext uri="{FF2B5EF4-FFF2-40B4-BE49-F238E27FC236}">
                  <a16:creationId xmlns:a16="http://schemas.microsoft.com/office/drawing/2014/main" id="{83B49AB2-57EA-5770-D903-6F9C48A6CBC8}"/>
                </a:ext>
              </a:extLst>
            </p:cNvPr>
            <p:cNvSpPr/>
            <p:nvPr/>
          </p:nvSpPr>
          <p:spPr>
            <a:xfrm>
              <a:off x="4927368" y="4667721"/>
              <a:ext cx="361067" cy="176309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30">
              <a:extLst>
                <a:ext uri="{FF2B5EF4-FFF2-40B4-BE49-F238E27FC236}">
                  <a16:creationId xmlns:a16="http://schemas.microsoft.com/office/drawing/2014/main" id="{F216A07A-BACA-8E66-84B9-8720EA2E01C1}"/>
                </a:ext>
              </a:extLst>
            </p:cNvPr>
            <p:cNvSpPr/>
            <p:nvPr/>
          </p:nvSpPr>
          <p:spPr>
            <a:xfrm rot="16200000">
              <a:off x="4326351" y="5425130"/>
              <a:ext cx="1584727" cy="287315"/>
            </a:xfrm>
            <a:prstGeom prst="rect">
              <a:avLst/>
            </a:prstGeom>
            <a:solidFill>
              <a:srgbClr val="C9DDF2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DISPOSAL AREA</a:t>
              </a:r>
              <a:b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br>
                <a:rPr lang="en-US" sz="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85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7</a:t>
              </a:r>
              <a:endParaRPr lang="en-US" sz="850" dirty="0"/>
            </a:p>
          </p:txBody>
        </p:sp>
        <p:sp>
          <p:nvSpPr>
            <p:cNvPr id="12" name="Shape 26">
              <a:extLst>
                <a:ext uri="{FF2B5EF4-FFF2-40B4-BE49-F238E27FC236}">
                  <a16:creationId xmlns:a16="http://schemas.microsoft.com/office/drawing/2014/main" id="{58B1FBCF-5A4C-1B0D-C0CF-2A9F4567BAA3}"/>
                </a:ext>
              </a:extLst>
            </p:cNvPr>
            <p:cNvSpPr/>
            <p:nvPr/>
          </p:nvSpPr>
          <p:spPr>
            <a:xfrm rot="5400000">
              <a:off x="10167794" y="294922"/>
              <a:ext cx="777240" cy="1264076"/>
            </a:xfrm>
            <a:prstGeom prst="roundRect">
              <a:avLst/>
            </a:prstGeom>
            <a:solidFill>
              <a:srgbClr val="E3D3E8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30">
              <a:extLst>
                <a:ext uri="{FF2B5EF4-FFF2-40B4-BE49-F238E27FC236}">
                  <a16:creationId xmlns:a16="http://schemas.microsoft.com/office/drawing/2014/main" id="{0CED75D2-5A09-1611-BB8D-5F84C472857E}"/>
                </a:ext>
              </a:extLst>
            </p:cNvPr>
            <p:cNvSpPr/>
            <p:nvPr/>
          </p:nvSpPr>
          <p:spPr>
            <a:xfrm>
              <a:off x="9944855" y="576147"/>
              <a:ext cx="1226345" cy="697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MOLD</a:t>
              </a:r>
              <a:br>
                <a:rPr lang="en-US" sz="1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br>
                <a:rPr lang="en-US" sz="2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85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260</a:t>
              </a:r>
              <a:endParaRPr lang="en-US" sz="850" dirty="0"/>
            </a:p>
          </p:txBody>
        </p:sp>
        <p:sp>
          <p:nvSpPr>
            <p:cNvPr id="14" name="Shape 25">
              <a:extLst>
                <a:ext uri="{FF2B5EF4-FFF2-40B4-BE49-F238E27FC236}">
                  <a16:creationId xmlns:a16="http://schemas.microsoft.com/office/drawing/2014/main" id="{2587D45A-67AF-4F87-BB41-9A0303343641}"/>
                </a:ext>
              </a:extLst>
            </p:cNvPr>
            <p:cNvSpPr/>
            <p:nvPr/>
          </p:nvSpPr>
          <p:spPr>
            <a:xfrm rot="5400000">
              <a:off x="10883191" y="5643938"/>
              <a:ext cx="781640" cy="592300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30">
              <a:extLst>
                <a:ext uri="{FF2B5EF4-FFF2-40B4-BE49-F238E27FC236}">
                  <a16:creationId xmlns:a16="http://schemas.microsoft.com/office/drawing/2014/main" id="{BB5C7A35-3B66-05C7-B1EC-C248F86B07B2}"/>
                </a:ext>
              </a:extLst>
            </p:cNvPr>
            <p:cNvSpPr/>
            <p:nvPr/>
          </p:nvSpPr>
          <p:spPr>
            <a:xfrm>
              <a:off x="10953037" y="5602284"/>
              <a:ext cx="638542" cy="697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-Fixtures 19</a:t>
              </a:r>
              <a:endParaRPr lang="en-US" sz="850" dirty="0"/>
            </a:p>
          </p:txBody>
        </p:sp>
        <p:sp>
          <p:nvSpPr>
            <p:cNvPr id="16" name="Shape 25">
              <a:extLst>
                <a:ext uri="{FF2B5EF4-FFF2-40B4-BE49-F238E27FC236}">
                  <a16:creationId xmlns:a16="http://schemas.microsoft.com/office/drawing/2014/main" id="{ED8DB2EB-70A8-3E0A-4B97-50569B1931AD}"/>
                </a:ext>
              </a:extLst>
            </p:cNvPr>
            <p:cNvSpPr/>
            <p:nvPr/>
          </p:nvSpPr>
          <p:spPr>
            <a:xfrm rot="5400000">
              <a:off x="8198529" y="4901222"/>
              <a:ext cx="706153" cy="51414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25">
              <a:extLst>
                <a:ext uri="{FF2B5EF4-FFF2-40B4-BE49-F238E27FC236}">
                  <a16:creationId xmlns:a16="http://schemas.microsoft.com/office/drawing/2014/main" id="{B47FB4EE-D860-6A41-CD14-8AE7105F2E12}"/>
                </a:ext>
              </a:extLst>
            </p:cNvPr>
            <p:cNvSpPr/>
            <p:nvPr/>
          </p:nvSpPr>
          <p:spPr>
            <a:xfrm rot="5400000">
              <a:off x="8217579" y="5691797"/>
              <a:ext cx="706153" cy="51414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AF4D81F0-AAE3-A741-E296-F8AC9837451E}"/>
              </a:ext>
            </a:extLst>
          </p:cNvPr>
          <p:cNvSpPr txBox="1">
            <a:spLocks/>
          </p:cNvSpPr>
          <p:nvPr/>
        </p:nvSpPr>
        <p:spPr>
          <a:xfrm>
            <a:off x="458232" y="43693"/>
            <a:ext cx="10971768" cy="57606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r>
              <a:rPr lang="en-US" sz="2000" kern="0" baseline="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PLANT 2 – ESD AREA				 – INJECTION AREA</a:t>
            </a:r>
          </a:p>
        </p:txBody>
      </p:sp>
    </p:spTree>
    <p:extLst>
      <p:ext uri="{BB962C8B-B14F-4D97-AF65-F5344CB8AC3E}">
        <p14:creationId xmlns:p14="http://schemas.microsoft.com/office/powerpoint/2010/main" val="375037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01091B-D8AA-D5C6-5577-CEC68817A605}"/>
              </a:ext>
            </a:extLst>
          </p:cNvPr>
          <p:cNvGrpSpPr/>
          <p:nvPr/>
        </p:nvGrpSpPr>
        <p:grpSpPr>
          <a:xfrm>
            <a:off x="695400" y="541059"/>
            <a:ext cx="10971768" cy="6009167"/>
            <a:chOff x="92367" y="57325"/>
            <a:chExt cx="8038537" cy="662903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AB7229-6DD7-C302-2C81-F6605E3DB32E}"/>
                </a:ext>
              </a:extLst>
            </p:cNvPr>
            <p:cNvGrpSpPr/>
            <p:nvPr/>
          </p:nvGrpSpPr>
          <p:grpSpPr>
            <a:xfrm>
              <a:off x="96202" y="1070128"/>
              <a:ext cx="394335" cy="1592029"/>
              <a:chOff x="318135" y="318770"/>
              <a:chExt cx="320040" cy="1005840"/>
            </a:xfrm>
          </p:grpSpPr>
          <p:sp>
            <p:nvSpPr>
              <p:cNvPr id="78" name="Shape 0">
                <a:extLst>
                  <a:ext uri="{FF2B5EF4-FFF2-40B4-BE49-F238E27FC236}">
                    <a16:creationId xmlns:a16="http://schemas.microsoft.com/office/drawing/2014/main" id="{E0CD6B6B-9B48-0BF6-A097-3231BE16E843}"/>
                  </a:ext>
                </a:extLst>
              </p:cNvPr>
              <p:cNvSpPr/>
              <p:nvPr/>
            </p:nvSpPr>
            <p:spPr>
              <a:xfrm>
                <a:off x="318135" y="318770"/>
                <a:ext cx="320040" cy="100584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" name="Text 1">
                <a:extLst>
                  <a:ext uri="{FF2B5EF4-FFF2-40B4-BE49-F238E27FC236}">
                    <a16:creationId xmlns:a16="http://schemas.microsoft.com/office/drawing/2014/main" id="{CFA32F93-9125-698F-A6F5-C8731D048435}"/>
                  </a:ext>
                </a:extLst>
              </p:cNvPr>
              <p:cNvSpPr/>
              <p:nvPr/>
            </p:nvSpPr>
            <p:spPr>
              <a:xfrm>
                <a:off x="318135" y="318770"/>
                <a:ext cx="320040" cy="1005840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OFFICE  ENTRANCE</a:t>
                </a:r>
                <a:endParaRPr lang="en-US" sz="1100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3612DD-7E3B-CFFA-247B-5DD57BE438FF}"/>
                </a:ext>
              </a:extLst>
            </p:cNvPr>
            <p:cNvGrpSpPr/>
            <p:nvPr/>
          </p:nvGrpSpPr>
          <p:grpSpPr>
            <a:xfrm>
              <a:off x="96202" y="3410703"/>
              <a:ext cx="394335" cy="1592029"/>
              <a:chOff x="96202" y="2696328"/>
              <a:chExt cx="394335" cy="1592029"/>
            </a:xfrm>
          </p:grpSpPr>
          <p:sp>
            <p:nvSpPr>
              <p:cNvPr id="76" name="Shape 6">
                <a:extLst>
                  <a:ext uri="{FF2B5EF4-FFF2-40B4-BE49-F238E27FC236}">
                    <a16:creationId xmlns:a16="http://schemas.microsoft.com/office/drawing/2014/main" id="{3032CA20-BB21-A2CE-354E-DB670FD05D6B}"/>
                  </a:ext>
                </a:extLst>
              </p:cNvPr>
              <p:cNvSpPr/>
              <p:nvPr/>
            </p:nvSpPr>
            <p:spPr>
              <a:xfrm>
                <a:off x="110490" y="2791265"/>
                <a:ext cx="365760" cy="1439942"/>
              </a:xfrm>
              <a:prstGeom prst="roundRect">
                <a:avLst>
                  <a:gd name="adj" fmla="val 25000"/>
                </a:avLst>
              </a:prstGeom>
              <a:solidFill>
                <a:srgbClr val="E3D3E8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sz="1000" dirty="0"/>
              </a:p>
            </p:txBody>
          </p:sp>
          <p:sp>
            <p:nvSpPr>
              <p:cNvPr id="77" name="Text 1">
                <a:extLst>
                  <a:ext uri="{FF2B5EF4-FFF2-40B4-BE49-F238E27FC236}">
                    <a16:creationId xmlns:a16="http://schemas.microsoft.com/office/drawing/2014/main" id="{7757FC53-9761-9B75-E3D2-9F3D3857A76E}"/>
                  </a:ext>
                </a:extLst>
              </p:cNvPr>
              <p:cNvSpPr/>
              <p:nvPr/>
            </p:nvSpPr>
            <p:spPr>
              <a:xfrm>
                <a:off x="96202" y="2696328"/>
                <a:ext cx="394335" cy="1592029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WC</a:t>
                </a:r>
                <a:endParaRPr lang="en-US" sz="1000" dirty="0"/>
              </a:p>
            </p:txBody>
          </p:sp>
        </p:grpSp>
        <p:sp>
          <p:nvSpPr>
            <p:cNvPr id="5" name="Shape 29">
              <a:extLst>
                <a:ext uri="{FF2B5EF4-FFF2-40B4-BE49-F238E27FC236}">
                  <a16:creationId xmlns:a16="http://schemas.microsoft.com/office/drawing/2014/main" id="{5BABF6A0-8489-2E8A-C9E2-FE20A639AF94}"/>
                </a:ext>
              </a:extLst>
            </p:cNvPr>
            <p:cNvSpPr/>
            <p:nvPr/>
          </p:nvSpPr>
          <p:spPr>
            <a:xfrm>
              <a:off x="4471252" y="5391150"/>
              <a:ext cx="2725293" cy="104553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29">
              <a:extLst>
                <a:ext uri="{FF2B5EF4-FFF2-40B4-BE49-F238E27FC236}">
                  <a16:creationId xmlns:a16="http://schemas.microsoft.com/office/drawing/2014/main" id="{9BA5AFDC-11D8-5EC8-3BF2-12912CA73798}"/>
                </a:ext>
              </a:extLst>
            </p:cNvPr>
            <p:cNvSpPr/>
            <p:nvPr/>
          </p:nvSpPr>
          <p:spPr>
            <a:xfrm>
              <a:off x="4363002" y="2925284"/>
              <a:ext cx="2725293" cy="104553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Shape 47">
              <a:extLst>
                <a:ext uri="{FF2B5EF4-FFF2-40B4-BE49-F238E27FC236}">
                  <a16:creationId xmlns:a16="http://schemas.microsoft.com/office/drawing/2014/main" id="{D3CDD0F3-EDEF-80FB-EBEE-304F830B4AC0}"/>
                </a:ext>
              </a:extLst>
            </p:cNvPr>
            <p:cNvSpPr/>
            <p:nvPr/>
          </p:nvSpPr>
          <p:spPr>
            <a:xfrm>
              <a:off x="2314364" y="3554542"/>
              <a:ext cx="1298999" cy="2884572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49ACE82-C2D7-796C-D333-E1280EF3C2BF}"/>
                </a:ext>
              </a:extLst>
            </p:cNvPr>
            <p:cNvGrpSpPr/>
            <p:nvPr/>
          </p:nvGrpSpPr>
          <p:grpSpPr>
            <a:xfrm>
              <a:off x="1141712" y="2152462"/>
              <a:ext cx="2965467" cy="777240"/>
              <a:chOff x="5498973" y="3554542"/>
              <a:chExt cx="2743200" cy="777240"/>
            </a:xfrm>
          </p:grpSpPr>
          <p:sp>
            <p:nvSpPr>
              <p:cNvPr id="73" name="Shape 26">
                <a:extLst>
                  <a:ext uri="{FF2B5EF4-FFF2-40B4-BE49-F238E27FC236}">
                    <a16:creationId xmlns:a16="http://schemas.microsoft.com/office/drawing/2014/main" id="{39117421-2D96-1E1D-BC4A-CE025931C9DE}"/>
                  </a:ext>
                </a:extLst>
              </p:cNvPr>
              <p:cNvSpPr/>
              <p:nvPr/>
            </p:nvSpPr>
            <p:spPr>
              <a:xfrm rot="5400000">
                <a:off x="6481953" y="2571562"/>
                <a:ext cx="777240" cy="274320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Shape 27">
                <a:extLst>
                  <a:ext uri="{FF2B5EF4-FFF2-40B4-BE49-F238E27FC236}">
                    <a16:creationId xmlns:a16="http://schemas.microsoft.com/office/drawing/2014/main" id="{5DFB5D3E-CBDF-2312-83D1-86EEAF3E3E72}"/>
                  </a:ext>
                </a:extLst>
              </p:cNvPr>
              <p:cNvSpPr/>
              <p:nvPr/>
            </p:nvSpPr>
            <p:spPr>
              <a:xfrm>
                <a:off x="6744788" y="3695324"/>
                <a:ext cx="157367" cy="157367"/>
              </a:xfrm>
              <a:prstGeom prst="ellipse">
                <a:avLst/>
              </a:prstGeom>
              <a:solidFill>
                <a:srgbClr val="FF9900"/>
              </a:solidFill>
              <a:ln>
                <a:solidFill>
                  <a:srgbClr val="FF99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Shape 28">
                <a:extLst>
                  <a:ext uri="{FF2B5EF4-FFF2-40B4-BE49-F238E27FC236}">
                    <a16:creationId xmlns:a16="http://schemas.microsoft.com/office/drawing/2014/main" id="{97E407D0-019A-C264-9D34-F41CE8F7BB32}"/>
                  </a:ext>
                </a:extLst>
              </p:cNvPr>
              <p:cNvSpPr/>
              <p:nvPr/>
            </p:nvSpPr>
            <p:spPr>
              <a:xfrm>
                <a:off x="6705966" y="3866741"/>
                <a:ext cx="247291" cy="314734"/>
              </a:xfrm>
              <a:prstGeom prst="roundRect">
                <a:avLst/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D493EE-E99F-B879-CE18-1338B0C8D192}"/>
                </a:ext>
              </a:extLst>
            </p:cNvPr>
            <p:cNvGrpSpPr/>
            <p:nvPr/>
          </p:nvGrpSpPr>
          <p:grpSpPr>
            <a:xfrm>
              <a:off x="4363002" y="2927270"/>
              <a:ext cx="1298999" cy="3509411"/>
              <a:chOff x="957263" y="3554542"/>
              <a:chExt cx="1298999" cy="2884572"/>
            </a:xfrm>
          </p:grpSpPr>
          <p:sp>
            <p:nvSpPr>
              <p:cNvPr id="71" name="Shape 47">
                <a:extLst>
                  <a:ext uri="{FF2B5EF4-FFF2-40B4-BE49-F238E27FC236}">
                    <a16:creationId xmlns:a16="http://schemas.microsoft.com/office/drawing/2014/main" id="{48FE86A4-B0C6-4199-3CFC-B7127D0CED2B}"/>
                  </a:ext>
                </a:extLst>
              </p:cNvPr>
              <p:cNvSpPr/>
              <p:nvPr/>
            </p:nvSpPr>
            <p:spPr>
              <a:xfrm>
                <a:off x="957263" y="3554542"/>
                <a:ext cx="1298999" cy="2884572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 48">
                <a:extLst>
                  <a:ext uri="{FF2B5EF4-FFF2-40B4-BE49-F238E27FC236}">
                    <a16:creationId xmlns:a16="http://schemas.microsoft.com/office/drawing/2014/main" id="{7C4CE633-3B9B-CEC1-01B0-B08080C21D37}"/>
                  </a:ext>
                </a:extLst>
              </p:cNvPr>
              <p:cNvSpPr/>
              <p:nvPr/>
            </p:nvSpPr>
            <p:spPr>
              <a:xfrm>
                <a:off x="1046463" y="3655167"/>
                <a:ext cx="1118582" cy="2683323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itchFamily="34" charset="0"/>
                    <a:cs typeface="Arial" pitchFamily="34" charset="-120"/>
                  </a:rPr>
                  <a:t>STW</a:t>
                </a:r>
                <a:endParaRPr lang="en-US" sz="1500" dirty="0"/>
              </a:p>
              <a:p>
                <a:pPr algn="ctr">
                  <a:buSzPct val="100000"/>
                </a:pPr>
                <a:r>
                  <a:rPr lang="en-US" sz="850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-Fixed Assets: 68</a:t>
                </a:r>
                <a:endParaRPr lang="en-US" sz="1500" dirty="0"/>
              </a:p>
              <a:p>
                <a:pPr algn="ctr">
                  <a:buSzPct val="100000"/>
                </a:pPr>
                <a:r>
                  <a:rPr lang="en-US" sz="850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-Identified: 34</a:t>
                </a:r>
                <a:endParaRPr lang="en-US" sz="150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F678CA-33F6-9A11-2859-8EA436162FB6}"/>
                </a:ext>
              </a:extLst>
            </p:cNvPr>
            <p:cNvGrpSpPr/>
            <p:nvPr/>
          </p:nvGrpSpPr>
          <p:grpSpPr>
            <a:xfrm>
              <a:off x="1033463" y="3554542"/>
              <a:ext cx="1298999" cy="2884572"/>
              <a:chOff x="957263" y="3554542"/>
              <a:chExt cx="1298999" cy="2884572"/>
            </a:xfrm>
          </p:grpSpPr>
          <p:sp>
            <p:nvSpPr>
              <p:cNvPr id="69" name="Shape 47">
                <a:extLst>
                  <a:ext uri="{FF2B5EF4-FFF2-40B4-BE49-F238E27FC236}">
                    <a16:creationId xmlns:a16="http://schemas.microsoft.com/office/drawing/2014/main" id="{ED8357BD-BAC1-8ECC-8A77-C4AB5B283E99}"/>
                  </a:ext>
                </a:extLst>
              </p:cNvPr>
              <p:cNvSpPr/>
              <p:nvPr/>
            </p:nvSpPr>
            <p:spPr>
              <a:xfrm>
                <a:off x="957263" y="3554542"/>
                <a:ext cx="1298999" cy="2884572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0" name="Text 48">
                <a:extLst>
                  <a:ext uri="{FF2B5EF4-FFF2-40B4-BE49-F238E27FC236}">
                    <a16:creationId xmlns:a16="http://schemas.microsoft.com/office/drawing/2014/main" id="{24C487D8-B87C-7A62-C6FA-AFD9CC5F1111}"/>
                  </a:ext>
                </a:extLst>
              </p:cNvPr>
              <p:cNvSpPr/>
              <p:nvPr/>
            </p:nvSpPr>
            <p:spPr>
              <a:xfrm>
                <a:off x="1065513" y="3655167"/>
                <a:ext cx="1118582" cy="2683323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itchFamily="34" charset="0"/>
                    <a:cs typeface="Arial" pitchFamily="34" charset="-120"/>
                  </a:rPr>
                  <a:t>EPB</a:t>
                </a:r>
                <a:endParaRPr lang="en-US" sz="1500" dirty="0"/>
              </a:p>
              <a:p>
                <a:pPr algn="ctr">
                  <a:buSzPct val="100000"/>
                </a:pPr>
                <a:r>
                  <a:rPr lang="en-US" sz="850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-Fixed Assets: 47</a:t>
                </a:r>
                <a:endParaRPr lang="en-US" sz="1500" dirty="0"/>
              </a:p>
              <a:p>
                <a:pPr algn="ctr">
                  <a:buSzPct val="100000"/>
                </a:pPr>
                <a:r>
                  <a:rPr lang="en-US" sz="850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-Identified: 23</a:t>
                </a:r>
                <a:endParaRPr lang="en-US" sz="1500" dirty="0"/>
              </a:p>
            </p:txBody>
          </p:sp>
        </p:grpSp>
        <p:sp>
          <p:nvSpPr>
            <p:cNvPr id="11" name="Shape 29">
              <a:extLst>
                <a:ext uri="{FF2B5EF4-FFF2-40B4-BE49-F238E27FC236}">
                  <a16:creationId xmlns:a16="http://schemas.microsoft.com/office/drawing/2014/main" id="{6321AC9C-151A-62CE-95DB-1CBE1DB55A1F}"/>
                </a:ext>
              </a:extLst>
            </p:cNvPr>
            <p:cNvSpPr/>
            <p:nvPr/>
          </p:nvSpPr>
          <p:spPr>
            <a:xfrm rot="5400000">
              <a:off x="5816463" y="2483718"/>
              <a:ext cx="2029209" cy="104553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Shape 29">
              <a:extLst>
                <a:ext uri="{FF2B5EF4-FFF2-40B4-BE49-F238E27FC236}">
                  <a16:creationId xmlns:a16="http://schemas.microsoft.com/office/drawing/2014/main" id="{4C66447D-C1FD-B285-89DC-CCD05460B010}"/>
                </a:ext>
              </a:extLst>
            </p:cNvPr>
            <p:cNvSpPr/>
            <p:nvPr/>
          </p:nvSpPr>
          <p:spPr>
            <a:xfrm>
              <a:off x="1141713" y="271746"/>
              <a:ext cx="3221289" cy="1045531"/>
            </a:xfrm>
            <a:prstGeom prst="roundRect">
              <a:avLst/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48">
              <a:extLst>
                <a:ext uri="{FF2B5EF4-FFF2-40B4-BE49-F238E27FC236}">
                  <a16:creationId xmlns:a16="http://schemas.microsoft.com/office/drawing/2014/main" id="{D63F101E-7E4A-26AE-B841-119A4289FB35}"/>
                </a:ext>
              </a:extLst>
            </p:cNvPr>
            <p:cNvSpPr/>
            <p:nvPr/>
          </p:nvSpPr>
          <p:spPr>
            <a:xfrm>
              <a:off x="1247775" y="390599"/>
              <a:ext cx="3009900" cy="82860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EVD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85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13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85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-Identified: 2</a:t>
              </a:r>
              <a:endParaRPr lang="en-US" sz="1500" dirty="0"/>
            </a:p>
          </p:txBody>
        </p:sp>
        <p:sp>
          <p:nvSpPr>
            <p:cNvPr id="14" name="Shape 33">
              <a:extLst>
                <a:ext uri="{FF2B5EF4-FFF2-40B4-BE49-F238E27FC236}">
                  <a16:creationId xmlns:a16="http://schemas.microsoft.com/office/drawing/2014/main" id="{079219C2-24B8-D089-0EE9-2251C267F67F}"/>
                </a:ext>
              </a:extLst>
            </p:cNvPr>
            <p:cNvSpPr/>
            <p:nvPr/>
          </p:nvSpPr>
          <p:spPr>
            <a:xfrm>
              <a:off x="8103472" y="422722"/>
              <a:ext cx="27432" cy="62636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0">
              <a:extLst>
                <a:ext uri="{FF2B5EF4-FFF2-40B4-BE49-F238E27FC236}">
                  <a16:creationId xmlns:a16="http://schemas.microsoft.com/office/drawing/2014/main" id="{419CE1DF-38AA-6384-42C1-C7519FE9BA77}"/>
                </a:ext>
              </a:extLst>
            </p:cNvPr>
            <p:cNvSpPr/>
            <p:nvPr/>
          </p:nvSpPr>
          <p:spPr>
            <a:xfrm rot="5400000">
              <a:off x="6024995" y="-454483"/>
              <a:ext cx="394335" cy="14239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369F0719-3006-F2D7-C5B0-B8AC3445A931}"/>
                </a:ext>
              </a:extLst>
            </p:cNvPr>
            <p:cNvSpPr/>
            <p:nvPr/>
          </p:nvSpPr>
          <p:spPr>
            <a:xfrm rot="5400000">
              <a:off x="6024994" y="-531063"/>
              <a:ext cx="394335" cy="1592029"/>
            </a:xfrm>
            <a:prstGeom prst="rect">
              <a:avLst/>
            </a:prstGeom>
            <a:noFill/>
            <a:ln/>
          </p:spPr>
          <p:txBody>
            <a:bodyPr vert="vert270"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EXPANSION ENTRY</a:t>
              </a:r>
              <a:endParaRPr lang="en-US" sz="110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6CE4496-7976-A0DB-4F53-5BFA33586288}"/>
                </a:ext>
              </a:extLst>
            </p:cNvPr>
            <p:cNvGrpSpPr/>
            <p:nvPr/>
          </p:nvGrpSpPr>
          <p:grpSpPr>
            <a:xfrm>
              <a:off x="7600719" y="4572317"/>
              <a:ext cx="394335" cy="1592029"/>
              <a:chOff x="96202" y="2696328"/>
              <a:chExt cx="394335" cy="1592029"/>
            </a:xfrm>
          </p:grpSpPr>
          <p:sp>
            <p:nvSpPr>
              <p:cNvPr id="25" name="Shape 6">
                <a:extLst>
                  <a:ext uri="{FF2B5EF4-FFF2-40B4-BE49-F238E27FC236}">
                    <a16:creationId xmlns:a16="http://schemas.microsoft.com/office/drawing/2014/main" id="{A22A46AB-5395-CE61-4AEF-B1E477954D7D}"/>
                  </a:ext>
                </a:extLst>
              </p:cNvPr>
              <p:cNvSpPr/>
              <p:nvPr/>
            </p:nvSpPr>
            <p:spPr>
              <a:xfrm>
                <a:off x="110490" y="2791265"/>
                <a:ext cx="365760" cy="1439942"/>
              </a:xfrm>
              <a:prstGeom prst="roundRect">
                <a:avLst>
                  <a:gd name="adj" fmla="val 25000"/>
                </a:avLst>
              </a:prstGeom>
              <a:solidFill>
                <a:srgbClr val="E3D3E8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sz="1000" dirty="0"/>
              </a:p>
            </p:txBody>
          </p:sp>
          <p:sp>
            <p:nvSpPr>
              <p:cNvPr id="26" name="Text 1">
                <a:extLst>
                  <a:ext uri="{FF2B5EF4-FFF2-40B4-BE49-F238E27FC236}">
                    <a16:creationId xmlns:a16="http://schemas.microsoft.com/office/drawing/2014/main" id="{8F362035-8540-AD49-FBE9-50E06D055109}"/>
                  </a:ext>
                </a:extLst>
              </p:cNvPr>
              <p:cNvSpPr/>
              <p:nvPr/>
            </p:nvSpPr>
            <p:spPr>
              <a:xfrm>
                <a:off x="96202" y="2696328"/>
                <a:ext cx="394335" cy="1592029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DOWNSTAIRS</a:t>
                </a:r>
                <a:endParaRPr lang="en-US" sz="10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FA9C3A8-1BBE-7144-6291-864AA9FDB118}"/>
                </a:ext>
              </a:extLst>
            </p:cNvPr>
            <p:cNvGrpSpPr/>
            <p:nvPr/>
          </p:nvGrpSpPr>
          <p:grpSpPr>
            <a:xfrm>
              <a:off x="7600719" y="753073"/>
              <a:ext cx="394335" cy="1592029"/>
              <a:chOff x="96202" y="2696328"/>
              <a:chExt cx="394335" cy="1592029"/>
            </a:xfrm>
          </p:grpSpPr>
          <p:sp>
            <p:nvSpPr>
              <p:cNvPr id="23" name="Shape 6">
                <a:extLst>
                  <a:ext uri="{FF2B5EF4-FFF2-40B4-BE49-F238E27FC236}">
                    <a16:creationId xmlns:a16="http://schemas.microsoft.com/office/drawing/2014/main" id="{F68E22EE-17F1-DB64-C8F5-993B2338A4A2}"/>
                  </a:ext>
                </a:extLst>
              </p:cNvPr>
              <p:cNvSpPr/>
              <p:nvPr/>
            </p:nvSpPr>
            <p:spPr>
              <a:xfrm>
                <a:off x="110490" y="2791265"/>
                <a:ext cx="365760" cy="1439942"/>
              </a:xfrm>
              <a:prstGeom prst="roundRect">
                <a:avLst>
                  <a:gd name="adj" fmla="val 25000"/>
                </a:avLst>
              </a:prstGeom>
              <a:solidFill>
                <a:srgbClr val="E3D3E8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sz="1000" dirty="0"/>
              </a:p>
            </p:txBody>
          </p:sp>
          <p:sp>
            <p:nvSpPr>
              <p:cNvPr id="24" name="Text 1">
                <a:extLst>
                  <a:ext uri="{FF2B5EF4-FFF2-40B4-BE49-F238E27FC236}">
                    <a16:creationId xmlns:a16="http://schemas.microsoft.com/office/drawing/2014/main" id="{A3DA3602-DD58-EE53-A5F5-022A69A926F2}"/>
                  </a:ext>
                </a:extLst>
              </p:cNvPr>
              <p:cNvSpPr/>
              <p:nvPr/>
            </p:nvSpPr>
            <p:spPr>
              <a:xfrm>
                <a:off x="96202" y="2696328"/>
                <a:ext cx="394335" cy="1592029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DOWNSTAIRS</a:t>
                </a:r>
                <a:endParaRPr lang="en-US" sz="1000" dirty="0"/>
              </a:p>
            </p:txBody>
          </p:sp>
        </p:grp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C2AD86F-9288-F5C0-4A72-BF5D67337E65}"/>
                </a:ext>
              </a:extLst>
            </p:cNvPr>
            <p:cNvSpPr/>
            <p:nvPr/>
          </p:nvSpPr>
          <p:spPr>
            <a:xfrm rot="10800000">
              <a:off x="92367" y="802610"/>
              <a:ext cx="394336" cy="208106"/>
            </a:xfrm>
            <a:prstGeom prst="rightArrow">
              <a:avLst>
                <a:gd name="adj1" fmla="val 36875"/>
                <a:gd name="adj2" fmla="val 7406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79E53C62-3532-2777-B57B-000947D82738}"/>
                </a:ext>
              </a:extLst>
            </p:cNvPr>
            <p:cNvSpPr/>
            <p:nvPr/>
          </p:nvSpPr>
          <p:spPr>
            <a:xfrm rot="16200000">
              <a:off x="6899211" y="150440"/>
              <a:ext cx="394336" cy="208106"/>
            </a:xfrm>
            <a:prstGeom prst="rightArrow">
              <a:avLst>
                <a:gd name="adj1" fmla="val 36875"/>
                <a:gd name="adj2" fmla="val 7406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" name="Title 1">
            <a:extLst>
              <a:ext uri="{FF2B5EF4-FFF2-40B4-BE49-F238E27FC236}">
                <a16:creationId xmlns:a16="http://schemas.microsoft.com/office/drawing/2014/main" id="{8594A326-73C8-0146-6244-8AD6986B2936}"/>
              </a:ext>
            </a:extLst>
          </p:cNvPr>
          <p:cNvSpPr txBox="1">
            <a:spLocks/>
          </p:cNvSpPr>
          <p:nvPr/>
        </p:nvSpPr>
        <p:spPr>
          <a:xfrm>
            <a:off x="458232" y="43693"/>
            <a:ext cx="10971768" cy="57606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r>
              <a:rPr lang="en-US" sz="2000" kern="0" baseline="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PLANT 2 – SECOND FLOOR</a:t>
            </a:r>
          </a:p>
        </p:txBody>
      </p:sp>
    </p:spTree>
    <p:extLst>
      <p:ext uri="{BB962C8B-B14F-4D97-AF65-F5344CB8AC3E}">
        <p14:creationId xmlns:p14="http://schemas.microsoft.com/office/powerpoint/2010/main" val="214052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1FA0FC04-3B7A-EABF-B915-CB33BD51DCCD}"/>
              </a:ext>
            </a:extLst>
          </p:cNvPr>
          <p:cNvGrpSpPr/>
          <p:nvPr/>
        </p:nvGrpSpPr>
        <p:grpSpPr>
          <a:xfrm>
            <a:off x="551384" y="611878"/>
            <a:ext cx="10729192" cy="6251877"/>
            <a:chOff x="73324" y="175041"/>
            <a:chExt cx="11813876" cy="661710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C7E745C-1152-C642-6F65-BA4EBDA63A27}"/>
                </a:ext>
              </a:extLst>
            </p:cNvPr>
            <p:cNvGrpSpPr/>
            <p:nvPr/>
          </p:nvGrpSpPr>
          <p:grpSpPr>
            <a:xfrm>
              <a:off x="6333477" y="6397814"/>
              <a:ext cx="1423900" cy="394335"/>
              <a:chOff x="7679190" y="6397814"/>
              <a:chExt cx="1423900" cy="394335"/>
            </a:xfrm>
          </p:grpSpPr>
          <p:sp>
            <p:nvSpPr>
              <p:cNvPr id="5" name="Shape 0">
                <a:extLst>
                  <a:ext uri="{FF2B5EF4-FFF2-40B4-BE49-F238E27FC236}">
                    <a16:creationId xmlns:a16="http://schemas.microsoft.com/office/drawing/2014/main" id="{6ED04289-750F-2E10-96B0-C172F8F56638}"/>
                  </a:ext>
                </a:extLst>
              </p:cNvPr>
              <p:cNvSpPr/>
              <p:nvPr/>
            </p:nvSpPr>
            <p:spPr>
              <a:xfrm rot="5400000">
                <a:off x="8193972" y="5883032"/>
                <a:ext cx="394335" cy="14239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 1">
                <a:extLst>
                  <a:ext uri="{FF2B5EF4-FFF2-40B4-BE49-F238E27FC236}">
                    <a16:creationId xmlns:a16="http://schemas.microsoft.com/office/drawing/2014/main" id="{A25C018A-2567-A5E3-2044-F714CA6EC142}"/>
                  </a:ext>
                </a:extLst>
              </p:cNvPr>
              <p:cNvSpPr/>
              <p:nvPr/>
            </p:nvSpPr>
            <p:spPr>
              <a:xfrm rot="5400000">
                <a:off x="8193972" y="5883032"/>
                <a:ext cx="394335" cy="1423900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EXPANSION ENTRY</a:t>
                </a:r>
                <a:endParaRPr lang="en-US" sz="1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7C7EEFD-893D-2F2B-29A0-14A5909A8AF9}"/>
                </a:ext>
              </a:extLst>
            </p:cNvPr>
            <p:cNvGrpSpPr/>
            <p:nvPr/>
          </p:nvGrpSpPr>
          <p:grpSpPr>
            <a:xfrm>
              <a:off x="7979434" y="2880360"/>
              <a:ext cx="3907766" cy="3703320"/>
              <a:chOff x="5212080" y="2880360"/>
              <a:chExt cx="6675120" cy="3703320"/>
            </a:xfrm>
          </p:grpSpPr>
          <p:sp>
            <p:nvSpPr>
              <p:cNvPr id="9" name="Shape 28">
                <a:extLst>
                  <a:ext uri="{FF2B5EF4-FFF2-40B4-BE49-F238E27FC236}">
                    <a16:creationId xmlns:a16="http://schemas.microsoft.com/office/drawing/2014/main" id="{C1D5AA06-29AC-4339-B28D-23275DEF731A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 30">
                <a:extLst>
                  <a:ext uri="{FF2B5EF4-FFF2-40B4-BE49-F238E27FC236}">
                    <a16:creationId xmlns:a16="http://schemas.microsoft.com/office/drawing/2014/main" id="{50C44322-1770-3316-B1E8-8E19FCC28F92}"/>
                  </a:ext>
                </a:extLst>
              </p:cNvPr>
              <p:cNvSpPr/>
              <p:nvPr/>
            </p:nvSpPr>
            <p:spPr>
              <a:xfrm>
                <a:off x="6400800" y="3063240"/>
                <a:ext cx="2103120" cy="1005840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Waste Area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Pallets</a:t>
                </a:r>
                <a:endParaRPr lang="en-US" sz="1200" dirty="0"/>
              </a:p>
            </p:txBody>
          </p:sp>
          <p:sp>
            <p:nvSpPr>
              <p:cNvPr id="13" name="Text 31">
                <a:extLst>
                  <a:ext uri="{FF2B5EF4-FFF2-40B4-BE49-F238E27FC236}">
                    <a16:creationId xmlns:a16="http://schemas.microsoft.com/office/drawing/2014/main" id="{E74B2F2D-924C-3637-B33C-F5DE2C4F1B46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LAMINATION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-Fixed Assets: 54</a:t>
                </a:r>
                <a:b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(1 fixture,</a:t>
                </a: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44 machines</a:t>
                </a: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and 7 dies)</a:t>
                </a: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Identified: 22</a:t>
                </a: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BE548C-D407-351A-5A58-7D38FC7BB9C2}"/>
                </a:ext>
              </a:extLst>
            </p:cNvPr>
            <p:cNvGrpSpPr/>
            <p:nvPr/>
          </p:nvGrpSpPr>
          <p:grpSpPr>
            <a:xfrm>
              <a:off x="7979434" y="419963"/>
              <a:ext cx="2984740" cy="2305986"/>
              <a:chOff x="5212080" y="3239599"/>
              <a:chExt cx="6675120" cy="3366655"/>
            </a:xfrm>
          </p:grpSpPr>
          <p:sp>
            <p:nvSpPr>
              <p:cNvPr id="17" name="Shape 28">
                <a:extLst>
                  <a:ext uri="{FF2B5EF4-FFF2-40B4-BE49-F238E27FC236}">
                    <a16:creationId xmlns:a16="http://schemas.microsoft.com/office/drawing/2014/main" id="{0A4E40D8-93E8-1159-CDDB-B0B65561C727}"/>
                  </a:ext>
                </a:extLst>
              </p:cNvPr>
              <p:cNvSpPr/>
              <p:nvPr/>
            </p:nvSpPr>
            <p:spPr>
              <a:xfrm>
                <a:off x="5212080" y="3239599"/>
                <a:ext cx="6675120" cy="3366655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31">
                <a:extLst>
                  <a:ext uri="{FF2B5EF4-FFF2-40B4-BE49-F238E27FC236}">
                    <a16:creationId xmlns:a16="http://schemas.microsoft.com/office/drawing/2014/main" id="{C740CDAF-C585-42A8-E44C-137C6F5B64E7}"/>
                  </a:ext>
                </a:extLst>
              </p:cNvPr>
              <p:cNvSpPr/>
              <p:nvPr/>
            </p:nvSpPr>
            <p:spPr>
              <a:xfrm>
                <a:off x="5212080" y="3360712"/>
                <a:ext cx="6675120" cy="3085807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RAW MATERIALS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4293AD-83F5-B5BE-E8DE-6A3804875973}"/>
                </a:ext>
              </a:extLst>
            </p:cNvPr>
            <p:cNvGrpSpPr/>
            <p:nvPr/>
          </p:nvGrpSpPr>
          <p:grpSpPr>
            <a:xfrm>
              <a:off x="100640" y="175041"/>
              <a:ext cx="6021237" cy="723550"/>
              <a:chOff x="5212080" y="2880360"/>
              <a:chExt cx="6675120" cy="3703320"/>
            </a:xfrm>
          </p:grpSpPr>
          <p:sp>
            <p:nvSpPr>
              <p:cNvPr id="21" name="Shape 28">
                <a:extLst>
                  <a:ext uri="{FF2B5EF4-FFF2-40B4-BE49-F238E27FC236}">
                    <a16:creationId xmlns:a16="http://schemas.microsoft.com/office/drawing/2014/main" id="{0B36473F-C2BD-C8E9-F09E-3320D747B0CE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31">
                <a:extLst>
                  <a:ext uri="{FF2B5EF4-FFF2-40B4-BE49-F238E27FC236}">
                    <a16:creationId xmlns:a16="http://schemas.microsoft.com/office/drawing/2014/main" id="{445607B9-53D1-5DF0-B247-59E0EE87BC93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PALLETS STORAGE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0F933C8-9A25-11E5-1803-969FFA8EB0CB}"/>
                </a:ext>
              </a:extLst>
            </p:cNvPr>
            <p:cNvGrpSpPr/>
            <p:nvPr/>
          </p:nvGrpSpPr>
          <p:grpSpPr>
            <a:xfrm>
              <a:off x="73324" y="971731"/>
              <a:ext cx="6021238" cy="907925"/>
              <a:chOff x="74761" y="1672699"/>
              <a:chExt cx="6021238" cy="1329293"/>
            </a:xfrm>
          </p:grpSpPr>
          <p:sp>
            <p:nvSpPr>
              <p:cNvPr id="27" name="Shape 29">
                <a:extLst>
                  <a:ext uri="{FF2B5EF4-FFF2-40B4-BE49-F238E27FC236}">
                    <a16:creationId xmlns:a16="http://schemas.microsoft.com/office/drawing/2014/main" id="{7F22F210-DCD0-E725-B8C1-82DD064E48D7}"/>
                  </a:ext>
                </a:extLst>
              </p:cNvPr>
              <p:cNvSpPr/>
              <p:nvPr/>
            </p:nvSpPr>
            <p:spPr>
              <a:xfrm>
                <a:off x="74761" y="1672699"/>
                <a:ext cx="6021238" cy="1329293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Text 31">
                <a:extLst>
                  <a:ext uri="{FF2B5EF4-FFF2-40B4-BE49-F238E27FC236}">
                    <a16:creationId xmlns:a16="http://schemas.microsoft.com/office/drawing/2014/main" id="{F837C509-4BBA-7E0A-3D5C-68BB219C90F7}"/>
                  </a:ext>
                </a:extLst>
              </p:cNvPr>
              <p:cNvSpPr/>
              <p:nvPr/>
            </p:nvSpPr>
            <p:spPr>
              <a:xfrm>
                <a:off x="198408" y="1715888"/>
                <a:ext cx="5771071" cy="125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BLDC LINE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-Fixed Assets: 35</a:t>
                </a:r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Identified: 0</a:t>
                </a: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4C8A72C-94F1-C47F-8C46-B4694F15604F}"/>
                </a:ext>
              </a:extLst>
            </p:cNvPr>
            <p:cNvGrpSpPr/>
            <p:nvPr/>
          </p:nvGrpSpPr>
          <p:grpSpPr>
            <a:xfrm>
              <a:off x="100640" y="1954048"/>
              <a:ext cx="6021237" cy="628088"/>
              <a:chOff x="5212080" y="2880360"/>
              <a:chExt cx="6675120" cy="3703320"/>
            </a:xfrm>
          </p:grpSpPr>
          <p:sp>
            <p:nvSpPr>
              <p:cNvPr id="34" name="Shape 28">
                <a:extLst>
                  <a:ext uri="{FF2B5EF4-FFF2-40B4-BE49-F238E27FC236}">
                    <a16:creationId xmlns:a16="http://schemas.microsoft.com/office/drawing/2014/main" id="{A3AC4C63-BC84-599E-F542-3F633F359812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1">
                <a:extLst>
                  <a:ext uri="{FF2B5EF4-FFF2-40B4-BE49-F238E27FC236}">
                    <a16:creationId xmlns:a16="http://schemas.microsoft.com/office/drawing/2014/main" id="{3ABCEF3F-108A-2D19-804C-77BAF517C9EE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PALLETS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7F1AE3E-43E6-B53C-454B-1C32A4A8CDBD}"/>
                </a:ext>
              </a:extLst>
            </p:cNvPr>
            <p:cNvGrpSpPr/>
            <p:nvPr/>
          </p:nvGrpSpPr>
          <p:grpSpPr>
            <a:xfrm>
              <a:off x="74763" y="2654630"/>
              <a:ext cx="3007743" cy="519081"/>
              <a:chOff x="5212080" y="2880360"/>
              <a:chExt cx="6675120" cy="3703320"/>
            </a:xfrm>
          </p:grpSpPr>
          <p:sp>
            <p:nvSpPr>
              <p:cNvPr id="40" name="Shape 28">
                <a:extLst>
                  <a:ext uri="{FF2B5EF4-FFF2-40B4-BE49-F238E27FC236}">
                    <a16:creationId xmlns:a16="http://schemas.microsoft.com/office/drawing/2014/main" id="{1B086BDE-1245-8781-D434-D22F5346F99E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41" name="Text 31">
                <a:extLst>
                  <a:ext uri="{FF2B5EF4-FFF2-40B4-BE49-F238E27FC236}">
                    <a16:creationId xmlns:a16="http://schemas.microsoft.com/office/drawing/2014/main" id="{EB61B686-F3D4-BFA8-4171-0BBB40EC00E7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STORAGE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18887F6-F6FE-2693-5895-F19B8FC0BF6C}"/>
                </a:ext>
              </a:extLst>
            </p:cNvPr>
            <p:cNvGrpSpPr/>
            <p:nvPr/>
          </p:nvGrpSpPr>
          <p:grpSpPr>
            <a:xfrm>
              <a:off x="3157918" y="2654512"/>
              <a:ext cx="1718915" cy="1665795"/>
              <a:chOff x="5212080" y="2880360"/>
              <a:chExt cx="6675120" cy="3703320"/>
            </a:xfrm>
          </p:grpSpPr>
          <p:sp>
            <p:nvSpPr>
              <p:cNvPr id="43" name="Shape 28">
                <a:extLst>
                  <a:ext uri="{FF2B5EF4-FFF2-40B4-BE49-F238E27FC236}">
                    <a16:creationId xmlns:a16="http://schemas.microsoft.com/office/drawing/2014/main" id="{2C6816EB-0550-0F36-8E1E-A65EDDCCDFA0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Text 31">
                <a:extLst>
                  <a:ext uri="{FF2B5EF4-FFF2-40B4-BE49-F238E27FC236}">
                    <a16:creationId xmlns:a16="http://schemas.microsoft.com/office/drawing/2014/main" id="{BB9C15AC-19E8-97D2-C2D7-0295B94C5ACD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MANIFOLD</a:t>
                </a:r>
                <a:b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-Fixed Assets: 9</a:t>
                </a:r>
              </a:p>
              <a:p>
                <a:pPr algn="ctr"/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Identified: 0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E432C37-146B-D4B9-9E3A-1DBFDAF19F49}"/>
                </a:ext>
              </a:extLst>
            </p:cNvPr>
            <p:cNvGrpSpPr/>
            <p:nvPr/>
          </p:nvGrpSpPr>
          <p:grpSpPr>
            <a:xfrm>
              <a:off x="4952245" y="2554220"/>
              <a:ext cx="1142317" cy="907377"/>
              <a:chOff x="5212080" y="2481997"/>
              <a:chExt cx="6675120" cy="3444524"/>
            </a:xfrm>
          </p:grpSpPr>
          <p:sp>
            <p:nvSpPr>
              <p:cNvPr id="46" name="Shape 28">
                <a:extLst>
                  <a:ext uri="{FF2B5EF4-FFF2-40B4-BE49-F238E27FC236}">
                    <a16:creationId xmlns:a16="http://schemas.microsoft.com/office/drawing/2014/main" id="{3DBC59C2-11AD-DAD0-96C5-B07DB8BB3347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2757318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 31">
                <a:extLst>
                  <a:ext uri="{FF2B5EF4-FFF2-40B4-BE49-F238E27FC236}">
                    <a16:creationId xmlns:a16="http://schemas.microsoft.com/office/drawing/2014/main" id="{955AFCFB-764C-03FE-7F31-809AC1E17EBF}"/>
                  </a:ext>
                </a:extLst>
              </p:cNvPr>
              <p:cNvSpPr/>
              <p:nvPr/>
            </p:nvSpPr>
            <p:spPr>
              <a:xfrm>
                <a:off x="5212080" y="2481997"/>
                <a:ext cx="6675120" cy="3444524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DIES</a:t>
                </a:r>
                <a:b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-Fixed Assets: 11</a:t>
                </a:r>
              </a:p>
              <a:p>
                <a:pPr algn="ctr"/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Identified: 0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162EBCE-226A-DFEA-2C7D-930CBA3E4153}"/>
                </a:ext>
              </a:extLst>
            </p:cNvPr>
            <p:cNvGrpSpPr/>
            <p:nvPr/>
          </p:nvGrpSpPr>
          <p:grpSpPr>
            <a:xfrm>
              <a:off x="319457" y="4401953"/>
              <a:ext cx="5775103" cy="755016"/>
              <a:chOff x="74761" y="1672699"/>
              <a:chExt cx="6021238" cy="1329293"/>
            </a:xfrm>
          </p:grpSpPr>
          <p:sp>
            <p:nvSpPr>
              <p:cNvPr id="49" name="Shape 29">
                <a:extLst>
                  <a:ext uri="{FF2B5EF4-FFF2-40B4-BE49-F238E27FC236}">
                    <a16:creationId xmlns:a16="http://schemas.microsoft.com/office/drawing/2014/main" id="{030CBC13-E381-659A-E24A-5ABCB9C902D4}"/>
                  </a:ext>
                </a:extLst>
              </p:cNvPr>
              <p:cNvSpPr/>
              <p:nvPr/>
            </p:nvSpPr>
            <p:spPr>
              <a:xfrm>
                <a:off x="74761" y="1672699"/>
                <a:ext cx="6021238" cy="1329293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0" name="Text 31">
                <a:extLst>
                  <a:ext uri="{FF2B5EF4-FFF2-40B4-BE49-F238E27FC236}">
                    <a16:creationId xmlns:a16="http://schemas.microsoft.com/office/drawing/2014/main" id="{038D2456-0793-1AE1-E057-642B181F9A17}"/>
                  </a:ext>
                </a:extLst>
              </p:cNvPr>
              <p:cNvSpPr/>
              <p:nvPr/>
            </p:nvSpPr>
            <p:spPr>
              <a:xfrm>
                <a:off x="198408" y="1715888"/>
                <a:ext cx="5771071" cy="125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E51EF63-8F34-EB2F-0040-49709AFF1BF5}"/>
                </a:ext>
              </a:extLst>
            </p:cNvPr>
            <p:cNvGrpSpPr/>
            <p:nvPr/>
          </p:nvGrpSpPr>
          <p:grpSpPr>
            <a:xfrm>
              <a:off x="73324" y="3254426"/>
              <a:ext cx="3009182" cy="1910602"/>
              <a:chOff x="74761" y="1672699"/>
              <a:chExt cx="6021238" cy="1329293"/>
            </a:xfrm>
          </p:grpSpPr>
          <p:sp>
            <p:nvSpPr>
              <p:cNvPr id="37" name="Shape 29">
                <a:extLst>
                  <a:ext uri="{FF2B5EF4-FFF2-40B4-BE49-F238E27FC236}">
                    <a16:creationId xmlns:a16="http://schemas.microsoft.com/office/drawing/2014/main" id="{BCF43E80-814D-D6E8-4043-7F2F7A7B8367}"/>
                  </a:ext>
                </a:extLst>
              </p:cNvPr>
              <p:cNvSpPr/>
              <p:nvPr/>
            </p:nvSpPr>
            <p:spPr>
              <a:xfrm>
                <a:off x="74761" y="1672699"/>
                <a:ext cx="6021238" cy="1329293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8" name="Text 31">
                <a:extLst>
                  <a:ext uri="{FF2B5EF4-FFF2-40B4-BE49-F238E27FC236}">
                    <a16:creationId xmlns:a16="http://schemas.microsoft.com/office/drawing/2014/main" id="{D2AF1C76-2072-ABB7-4A3F-9F89BF199EE4}"/>
                  </a:ext>
                </a:extLst>
              </p:cNvPr>
              <p:cNvSpPr/>
              <p:nvPr/>
            </p:nvSpPr>
            <p:spPr>
              <a:xfrm>
                <a:off x="198408" y="1715888"/>
                <a:ext cx="5771071" cy="125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CDM</a:t>
                </a:r>
                <a:b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-Fixed Assets: 52</a:t>
                </a:r>
              </a:p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Identified: 0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US" sz="8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33A3DC6-A79B-7AC6-D053-4810DE6D2F52}"/>
                </a:ext>
              </a:extLst>
            </p:cNvPr>
            <p:cNvGrpSpPr/>
            <p:nvPr/>
          </p:nvGrpSpPr>
          <p:grpSpPr>
            <a:xfrm>
              <a:off x="196971" y="5470777"/>
              <a:ext cx="1806082" cy="1135969"/>
              <a:chOff x="5212080" y="2880360"/>
              <a:chExt cx="6675120" cy="3703320"/>
            </a:xfrm>
          </p:grpSpPr>
          <p:sp>
            <p:nvSpPr>
              <p:cNvPr id="52" name="Shape 28">
                <a:extLst>
                  <a:ext uri="{FF2B5EF4-FFF2-40B4-BE49-F238E27FC236}">
                    <a16:creationId xmlns:a16="http://schemas.microsoft.com/office/drawing/2014/main" id="{6A31002B-EE8A-DA70-B903-FA19C6FC771A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 31">
                <a:extLst>
                  <a:ext uri="{FF2B5EF4-FFF2-40B4-BE49-F238E27FC236}">
                    <a16:creationId xmlns:a16="http://schemas.microsoft.com/office/drawing/2014/main" id="{C5ADDE75-1F4F-12A6-A043-2134D3434CE5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PALLETS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B85B24C-268A-060A-BC2F-47BF2C6A5EE4}"/>
                </a:ext>
              </a:extLst>
            </p:cNvPr>
            <p:cNvGrpSpPr/>
            <p:nvPr/>
          </p:nvGrpSpPr>
          <p:grpSpPr>
            <a:xfrm>
              <a:off x="2208217" y="5470777"/>
              <a:ext cx="1806082" cy="1135969"/>
              <a:chOff x="5212080" y="2880360"/>
              <a:chExt cx="6675120" cy="3703320"/>
            </a:xfrm>
          </p:grpSpPr>
          <p:sp>
            <p:nvSpPr>
              <p:cNvPr id="55" name="Shape 28">
                <a:extLst>
                  <a:ext uri="{FF2B5EF4-FFF2-40B4-BE49-F238E27FC236}">
                    <a16:creationId xmlns:a16="http://schemas.microsoft.com/office/drawing/2014/main" id="{3E807DAC-0782-EF77-011E-06CD0A737963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31">
                <a:extLst>
                  <a:ext uri="{FF2B5EF4-FFF2-40B4-BE49-F238E27FC236}">
                    <a16:creationId xmlns:a16="http://schemas.microsoft.com/office/drawing/2014/main" id="{9647498B-6746-3D67-3FE5-9429253C8F0E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QUALITY</a:t>
                </a:r>
              </a:p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-Fixtures: 6</a:t>
                </a:r>
              </a:p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Identified: 0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9A3C01D-E7F7-D762-2209-AA584D532597}"/>
                </a:ext>
              </a:extLst>
            </p:cNvPr>
            <p:cNvGrpSpPr/>
            <p:nvPr/>
          </p:nvGrpSpPr>
          <p:grpSpPr>
            <a:xfrm>
              <a:off x="4219463" y="5470777"/>
              <a:ext cx="1806082" cy="1135969"/>
              <a:chOff x="5212080" y="2880360"/>
              <a:chExt cx="6675120" cy="3703320"/>
            </a:xfrm>
          </p:grpSpPr>
          <p:sp>
            <p:nvSpPr>
              <p:cNvPr id="58" name="Shape 28">
                <a:extLst>
                  <a:ext uri="{FF2B5EF4-FFF2-40B4-BE49-F238E27FC236}">
                    <a16:creationId xmlns:a16="http://schemas.microsoft.com/office/drawing/2014/main" id="{8215B30F-EAC1-6992-1412-55CC4A8E1D4F}"/>
                  </a:ext>
                </a:extLst>
              </p:cNvPr>
              <p:cNvSpPr/>
              <p:nvPr/>
            </p:nvSpPr>
            <p:spPr>
              <a:xfrm>
                <a:off x="5212080" y="2880360"/>
                <a:ext cx="6675120" cy="370332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 31">
                <a:extLst>
                  <a:ext uri="{FF2B5EF4-FFF2-40B4-BE49-F238E27FC236}">
                    <a16:creationId xmlns:a16="http://schemas.microsoft.com/office/drawing/2014/main" id="{E09AC0AC-BFEE-9777-61DE-4A9326D8FD6C}"/>
                  </a:ext>
                </a:extLst>
              </p:cNvPr>
              <p:cNvSpPr/>
              <p:nvPr/>
            </p:nvSpPr>
            <p:spPr>
              <a:xfrm>
                <a:off x="5212080" y="3001992"/>
                <a:ext cx="6675120" cy="3444528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PALLETS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E30680-9F8E-4722-6A03-08BA2B92EB6F}"/>
                </a:ext>
              </a:extLst>
            </p:cNvPr>
            <p:cNvSpPr/>
            <p:nvPr/>
          </p:nvSpPr>
          <p:spPr>
            <a:xfrm rot="16200000">
              <a:off x="6848258" y="6102564"/>
              <a:ext cx="394336" cy="208106"/>
            </a:xfrm>
            <a:prstGeom prst="rightArrow">
              <a:avLst>
                <a:gd name="adj1" fmla="val 36875"/>
                <a:gd name="adj2" fmla="val 7406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0902974-87E5-0D32-60B1-4E90487DC016}"/>
              </a:ext>
            </a:extLst>
          </p:cNvPr>
          <p:cNvSpPr txBox="1">
            <a:spLocks/>
          </p:cNvSpPr>
          <p:nvPr/>
        </p:nvSpPr>
        <p:spPr>
          <a:xfrm>
            <a:off x="458232" y="43693"/>
            <a:ext cx="10971768" cy="57606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r>
              <a:rPr lang="en-US" sz="2000" kern="0" baseline="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PLANT 2 – EXPANSION </a:t>
            </a:r>
          </a:p>
        </p:txBody>
      </p:sp>
      <p:sp>
        <p:nvSpPr>
          <p:cNvPr id="4" name="Shape 28">
            <a:extLst>
              <a:ext uri="{FF2B5EF4-FFF2-40B4-BE49-F238E27FC236}">
                <a16:creationId xmlns:a16="http://schemas.microsoft.com/office/drawing/2014/main" id="{0CF5ADBF-D09A-9B17-BDCE-11BE57003286}"/>
              </a:ext>
            </a:extLst>
          </p:cNvPr>
          <p:cNvSpPr/>
          <p:nvPr/>
        </p:nvSpPr>
        <p:spPr>
          <a:xfrm>
            <a:off x="5015880" y="3750854"/>
            <a:ext cx="1037436" cy="686258"/>
          </a:xfrm>
          <a:prstGeom prst="roundRect">
            <a:avLst/>
          </a:prstGeom>
          <a:solidFill>
            <a:srgbClr val="E3D3E8"/>
          </a:solidFill>
          <a:ln w="12700">
            <a:solidFill>
              <a:srgbClr val="6B5B7A"/>
            </a:solidFill>
            <a:prstDash val="solid"/>
          </a:ln>
          <a:effectLst>
            <a:outerShdw blurRad="381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18604913-C04F-966F-11E0-B8C0CD3BF97E}"/>
              </a:ext>
            </a:extLst>
          </p:cNvPr>
          <p:cNvSpPr/>
          <p:nvPr/>
        </p:nvSpPr>
        <p:spPr>
          <a:xfrm>
            <a:off x="5023639" y="3541657"/>
            <a:ext cx="1037436" cy="857294"/>
          </a:xfrm>
          <a:prstGeom prst="round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MULTITECH</a:t>
            </a:r>
            <a:b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-Fixed Assets: 4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Identified: 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42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4288CA-D03F-D96F-4B0D-25AB9510BE28}"/>
              </a:ext>
            </a:extLst>
          </p:cNvPr>
          <p:cNvSpPr txBox="1">
            <a:spLocks/>
          </p:cNvSpPr>
          <p:nvPr/>
        </p:nvSpPr>
        <p:spPr>
          <a:xfrm>
            <a:off x="458232" y="43693"/>
            <a:ext cx="10971768" cy="57606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r>
              <a:rPr lang="en-US" sz="2000" kern="0" baseline="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PLANT 2 – EXPANSION SECOND FLOOR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AB583D-94D3-91B6-AAB7-F37557BEFB6C}"/>
              </a:ext>
            </a:extLst>
          </p:cNvPr>
          <p:cNvGrpSpPr/>
          <p:nvPr/>
        </p:nvGrpSpPr>
        <p:grpSpPr>
          <a:xfrm>
            <a:off x="715968" y="518889"/>
            <a:ext cx="10714032" cy="6295418"/>
            <a:chOff x="228599" y="55249"/>
            <a:chExt cx="11612881" cy="682356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89D2C3-5B54-B43A-E103-C6616B2A1578}"/>
                </a:ext>
              </a:extLst>
            </p:cNvPr>
            <p:cNvGrpSpPr/>
            <p:nvPr/>
          </p:nvGrpSpPr>
          <p:grpSpPr>
            <a:xfrm>
              <a:off x="1693544" y="3741420"/>
              <a:ext cx="394336" cy="1592029"/>
              <a:chOff x="318135" y="318770"/>
              <a:chExt cx="320041" cy="1005840"/>
            </a:xfrm>
          </p:grpSpPr>
          <p:sp>
            <p:nvSpPr>
              <p:cNvPr id="74" name="Shape 0">
                <a:extLst>
                  <a:ext uri="{FF2B5EF4-FFF2-40B4-BE49-F238E27FC236}">
                    <a16:creationId xmlns:a16="http://schemas.microsoft.com/office/drawing/2014/main" id="{62F077B1-D61B-0808-C96E-BCDE11F20500}"/>
                  </a:ext>
                </a:extLst>
              </p:cNvPr>
              <p:cNvSpPr/>
              <p:nvPr/>
            </p:nvSpPr>
            <p:spPr>
              <a:xfrm>
                <a:off x="318135" y="318770"/>
                <a:ext cx="320040" cy="100584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" name="Text 1">
                <a:extLst>
                  <a:ext uri="{FF2B5EF4-FFF2-40B4-BE49-F238E27FC236}">
                    <a16:creationId xmlns:a16="http://schemas.microsoft.com/office/drawing/2014/main" id="{FA83C956-348E-7A1A-BF1C-43B7BB60AAE3}"/>
                  </a:ext>
                </a:extLst>
              </p:cNvPr>
              <p:cNvSpPr/>
              <p:nvPr/>
            </p:nvSpPr>
            <p:spPr>
              <a:xfrm>
                <a:off x="318136" y="318770"/>
                <a:ext cx="320040" cy="1005840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OFFICE  ENTRANCE</a:t>
                </a:r>
                <a:endParaRPr lang="en-US" sz="110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900CF7-80AF-4796-C15E-EBB0CB8E8B6D}"/>
                </a:ext>
              </a:extLst>
            </p:cNvPr>
            <p:cNvGrpSpPr/>
            <p:nvPr/>
          </p:nvGrpSpPr>
          <p:grpSpPr>
            <a:xfrm>
              <a:off x="228599" y="775196"/>
              <a:ext cx="7410451" cy="583952"/>
              <a:chOff x="1950720" y="160020"/>
              <a:chExt cx="8001000" cy="77724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5FA58428-22FD-19A4-880C-B5C8525081AA}"/>
                  </a:ext>
                </a:extLst>
              </p:cNvPr>
              <p:cNvSpPr/>
              <p:nvPr/>
            </p:nvSpPr>
            <p:spPr>
              <a:xfrm>
                <a:off x="1950720" y="160020"/>
                <a:ext cx="8001000" cy="777240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01ABD34A-6719-B8D0-9320-5498A80334D5}"/>
                  </a:ext>
                </a:extLst>
              </p:cNvPr>
              <p:cNvSpPr/>
              <p:nvPr/>
            </p:nvSpPr>
            <p:spPr>
              <a:xfrm>
                <a:off x="2087880" y="160020"/>
                <a:ext cx="7726680" cy="777240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ETM BRACKET LINE</a:t>
                </a:r>
                <a:endParaRPr lang="en-US" sz="1300" dirty="0"/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-Fixed Assets: 6</a:t>
                </a:r>
                <a:br>
                  <a:rPr lang="en-US" sz="85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</a:br>
                <a:r>
                  <a:rPr lang="en-US" sz="85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-Identified: 5</a:t>
                </a:r>
                <a:endParaRPr lang="en-US" sz="850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B86E8D-0678-720D-E9BB-7281C0E10682}"/>
                </a:ext>
              </a:extLst>
            </p:cNvPr>
            <p:cNvGrpSpPr/>
            <p:nvPr/>
          </p:nvGrpSpPr>
          <p:grpSpPr>
            <a:xfrm>
              <a:off x="228599" y="1516752"/>
              <a:ext cx="7410451" cy="583952"/>
              <a:chOff x="1950720" y="1074420"/>
              <a:chExt cx="8001000" cy="777240"/>
            </a:xfrm>
          </p:grpSpPr>
          <p:sp>
            <p:nvSpPr>
              <p:cNvPr id="70" name="Shape 19">
                <a:extLst>
                  <a:ext uri="{FF2B5EF4-FFF2-40B4-BE49-F238E27FC236}">
                    <a16:creationId xmlns:a16="http://schemas.microsoft.com/office/drawing/2014/main" id="{4848AE74-160F-B8A8-8513-D7620CB5884F}"/>
                  </a:ext>
                </a:extLst>
              </p:cNvPr>
              <p:cNvSpPr/>
              <p:nvPr/>
            </p:nvSpPr>
            <p:spPr>
              <a:xfrm>
                <a:off x="1950720" y="1074420"/>
                <a:ext cx="8001000" cy="777240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Text 20">
                <a:extLst>
                  <a:ext uri="{FF2B5EF4-FFF2-40B4-BE49-F238E27FC236}">
                    <a16:creationId xmlns:a16="http://schemas.microsoft.com/office/drawing/2014/main" id="{748802CF-08B4-6538-C884-9705768691BD}"/>
                  </a:ext>
                </a:extLst>
              </p:cNvPr>
              <p:cNvSpPr/>
              <p:nvPr/>
            </p:nvSpPr>
            <p:spPr>
              <a:xfrm>
                <a:off x="2087880" y="1074420"/>
                <a:ext cx="7726680" cy="777240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WATER PUMP</a:t>
                </a:r>
                <a:endParaRPr lang="en-US" sz="1300" dirty="0"/>
              </a:p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-Fixed Assets:40 </a:t>
                </a:r>
                <a:br>
                  <a:rPr lang="en-US" sz="85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</a:br>
                <a:r>
                  <a:rPr lang="en-US" sz="85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-Identified:34</a:t>
                </a:r>
                <a:endParaRPr lang="en-US" sz="85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AE11059-CB62-697E-A8D0-4042186229A2}"/>
                </a:ext>
              </a:extLst>
            </p:cNvPr>
            <p:cNvGrpSpPr/>
            <p:nvPr/>
          </p:nvGrpSpPr>
          <p:grpSpPr>
            <a:xfrm>
              <a:off x="228599" y="2258308"/>
              <a:ext cx="7410451" cy="583952"/>
              <a:chOff x="1950720" y="1988820"/>
              <a:chExt cx="8001000" cy="777240"/>
            </a:xfrm>
          </p:grpSpPr>
          <p:sp>
            <p:nvSpPr>
              <p:cNvPr id="68" name="Shape 21">
                <a:extLst>
                  <a:ext uri="{FF2B5EF4-FFF2-40B4-BE49-F238E27FC236}">
                    <a16:creationId xmlns:a16="http://schemas.microsoft.com/office/drawing/2014/main" id="{862251D1-618A-F727-D5AF-45AA1927CE0D}"/>
                  </a:ext>
                </a:extLst>
              </p:cNvPr>
              <p:cNvSpPr/>
              <p:nvPr/>
            </p:nvSpPr>
            <p:spPr>
              <a:xfrm>
                <a:off x="1950720" y="1988820"/>
                <a:ext cx="8001000" cy="777240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 22">
                <a:extLst>
                  <a:ext uri="{FF2B5EF4-FFF2-40B4-BE49-F238E27FC236}">
                    <a16:creationId xmlns:a16="http://schemas.microsoft.com/office/drawing/2014/main" id="{7B69E437-CB67-D584-2FD0-1ADE1CEA97E4}"/>
                  </a:ext>
                </a:extLst>
              </p:cNvPr>
              <p:cNvSpPr/>
              <p:nvPr/>
            </p:nvSpPr>
            <p:spPr>
              <a:xfrm>
                <a:off x="2087880" y="1988820"/>
                <a:ext cx="7726680" cy="777240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SPIDER VALVE</a:t>
                </a:r>
                <a:endParaRPr lang="en-US" sz="1300" dirty="0"/>
              </a:p>
              <a:p>
                <a:pPr algn="ctr"/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-Fixed assets: 93 (35 machines, 58 Fixtures)</a:t>
                </a:r>
                <a:br>
                  <a:rPr 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</a:br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-Identified: 29</a:t>
                </a:r>
                <a:endParaRPr lang="en-US" sz="1000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5AA8FC1-7424-0FF5-C4A6-CC516FB28605}"/>
                </a:ext>
              </a:extLst>
            </p:cNvPr>
            <p:cNvGrpSpPr/>
            <p:nvPr/>
          </p:nvGrpSpPr>
          <p:grpSpPr>
            <a:xfrm>
              <a:off x="1360170" y="2999864"/>
              <a:ext cx="6278880" cy="583952"/>
              <a:chOff x="1950720" y="2903220"/>
              <a:chExt cx="8001000" cy="960120"/>
            </a:xfrm>
          </p:grpSpPr>
          <p:sp>
            <p:nvSpPr>
              <p:cNvPr id="66" name="Shape 23">
                <a:extLst>
                  <a:ext uri="{FF2B5EF4-FFF2-40B4-BE49-F238E27FC236}">
                    <a16:creationId xmlns:a16="http://schemas.microsoft.com/office/drawing/2014/main" id="{C2B4BA9D-6E24-75D3-1798-82045BE07372}"/>
                  </a:ext>
                </a:extLst>
              </p:cNvPr>
              <p:cNvSpPr/>
              <p:nvPr/>
            </p:nvSpPr>
            <p:spPr>
              <a:xfrm>
                <a:off x="1950720" y="2903220"/>
                <a:ext cx="8001000" cy="960120"/>
              </a:xfrm>
              <a:prstGeom prst="roundRect">
                <a:avLst/>
              </a:prstGeom>
              <a:solidFill>
                <a:srgbClr val="C9DDF2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Text 24">
                <a:extLst>
                  <a:ext uri="{FF2B5EF4-FFF2-40B4-BE49-F238E27FC236}">
                    <a16:creationId xmlns:a16="http://schemas.microsoft.com/office/drawing/2014/main" id="{BAC1E5FC-5DA1-587C-8971-964C77CDE057}"/>
                  </a:ext>
                </a:extLst>
              </p:cNvPr>
              <p:cNvSpPr/>
              <p:nvPr/>
            </p:nvSpPr>
            <p:spPr>
              <a:xfrm>
                <a:off x="2087880" y="2903220"/>
                <a:ext cx="7726680" cy="960120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DAHLIA VALVE</a:t>
                </a:r>
                <a:endParaRPr lang="en-US" sz="1300" dirty="0"/>
              </a:p>
              <a:p>
                <a:pPr marL="171450" indent="-171450" algn="ctr">
                  <a:buFontTx/>
                  <a:buChar char="-"/>
                </a:pPr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cs typeface="Arial" pitchFamily="34" charset="-120"/>
                  </a:rPr>
                  <a:t>Fixed Assets: 11</a:t>
                </a:r>
              </a:p>
              <a:p>
                <a:pPr marL="171450" indent="-171450" algn="ctr">
                  <a:buFontTx/>
                  <a:buChar char="-"/>
                </a:pPr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cs typeface="Arial" pitchFamily="34" charset="-120"/>
                  </a:rPr>
                  <a:t>Identified: 11</a:t>
                </a:r>
                <a:endParaRPr lang="en-US" sz="100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A9BE67F-005B-3F72-1321-DBDE6228198F}"/>
                </a:ext>
              </a:extLst>
            </p:cNvPr>
            <p:cNvGrpSpPr/>
            <p:nvPr/>
          </p:nvGrpSpPr>
          <p:grpSpPr>
            <a:xfrm>
              <a:off x="228599" y="3055408"/>
              <a:ext cx="990601" cy="528992"/>
              <a:chOff x="228600" y="1965960"/>
              <a:chExt cx="685800" cy="640080"/>
            </a:xfrm>
          </p:grpSpPr>
          <p:sp>
            <p:nvSpPr>
              <p:cNvPr id="64" name="Shape 25">
                <a:extLst>
                  <a:ext uri="{FF2B5EF4-FFF2-40B4-BE49-F238E27FC236}">
                    <a16:creationId xmlns:a16="http://schemas.microsoft.com/office/drawing/2014/main" id="{E023647E-FA92-3C38-DA69-A7F1069E9B57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" name="Text 26">
                <a:extLst>
                  <a:ext uri="{FF2B5EF4-FFF2-40B4-BE49-F238E27FC236}">
                    <a16:creationId xmlns:a16="http://schemas.microsoft.com/office/drawing/2014/main" id="{D41CC3FB-F257-D70F-43DA-665EF72B26BB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DOWNSTAIRS</a:t>
                </a:r>
                <a:endParaRPr lang="en-US" sz="90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090396A-2595-D6B1-F3E4-6A18E82E224C}"/>
                </a:ext>
              </a:extLst>
            </p:cNvPr>
            <p:cNvGrpSpPr/>
            <p:nvPr/>
          </p:nvGrpSpPr>
          <p:grpSpPr>
            <a:xfrm>
              <a:off x="1693543" y="5286789"/>
              <a:ext cx="394335" cy="1592029"/>
              <a:chOff x="96202" y="2696328"/>
              <a:chExt cx="394335" cy="1592029"/>
            </a:xfrm>
          </p:grpSpPr>
          <p:sp>
            <p:nvSpPr>
              <p:cNvPr id="62" name="Shape 6">
                <a:extLst>
                  <a:ext uri="{FF2B5EF4-FFF2-40B4-BE49-F238E27FC236}">
                    <a16:creationId xmlns:a16="http://schemas.microsoft.com/office/drawing/2014/main" id="{12173790-A9E9-E4F6-FFD8-90752F5FD483}"/>
                  </a:ext>
                </a:extLst>
              </p:cNvPr>
              <p:cNvSpPr/>
              <p:nvPr/>
            </p:nvSpPr>
            <p:spPr>
              <a:xfrm>
                <a:off x="110490" y="2791265"/>
                <a:ext cx="365760" cy="1439942"/>
              </a:xfrm>
              <a:prstGeom prst="roundRect">
                <a:avLst>
                  <a:gd name="adj" fmla="val 25000"/>
                </a:avLst>
              </a:prstGeom>
              <a:solidFill>
                <a:srgbClr val="E3D3E8"/>
              </a:solidFill>
              <a:ln w="12700">
                <a:solidFill>
                  <a:srgbClr val="3A4A5C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en-US" sz="1000" dirty="0"/>
              </a:p>
            </p:txBody>
          </p:sp>
          <p:sp>
            <p:nvSpPr>
              <p:cNvPr id="63" name="Text 1">
                <a:extLst>
                  <a:ext uri="{FF2B5EF4-FFF2-40B4-BE49-F238E27FC236}">
                    <a16:creationId xmlns:a16="http://schemas.microsoft.com/office/drawing/2014/main" id="{BCD4E184-644F-2AC0-C2E5-F9621C286635}"/>
                  </a:ext>
                </a:extLst>
              </p:cNvPr>
              <p:cNvSpPr/>
              <p:nvPr/>
            </p:nvSpPr>
            <p:spPr>
              <a:xfrm>
                <a:off x="96202" y="2696328"/>
                <a:ext cx="394335" cy="1592029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WC</a:t>
                </a:r>
                <a:endParaRPr lang="en-US" sz="1000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0CA7851-CBE9-97CB-ACD8-50DBB47DF926}"/>
                </a:ext>
              </a:extLst>
            </p:cNvPr>
            <p:cNvGrpSpPr/>
            <p:nvPr/>
          </p:nvGrpSpPr>
          <p:grpSpPr>
            <a:xfrm>
              <a:off x="2619375" y="5221468"/>
              <a:ext cx="1417320" cy="1600200"/>
              <a:chOff x="228600" y="4892040"/>
              <a:chExt cx="1417320" cy="1600200"/>
            </a:xfrm>
          </p:grpSpPr>
          <p:sp>
            <p:nvSpPr>
              <p:cNvPr id="60" name="Shape 43">
                <a:extLst>
                  <a:ext uri="{FF2B5EF4-FFF2-40B4-BE49-F238E27FC236}">
                    <a16:creationId xmlns:a16="http://schemas.microsoft.com/office/drawing/2014/main" id="{2E460E95-29DD-230D-43F1-DBC2B85DE132}"/>
                  </a:ext>
                </a:extLst>
              </p:cNvPr>
              <p:cNvSpPr/>
              <p:nvPr/>
            </p:nvSpPr>
            <p:spPr>
              <a:xfrm>
                <a:off x="228600" y="4892040"/>
                <a:ext cx="1417320" cy="160020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44">
                <a:extLst>
                  <a:ext uri="{FF2B5EF4-FFF2-40B4-BE49-F238E27FC236}">
                    <a16:creationId xmlns:a16="http://schemas.microsoft.com/office/drawing/2014/main" id="{1B846C86-7153-84A1-2BEB-8A7FF4DB0BCD}"/>
                  </a:ext>
                </a:extLst>
              </p:cNvPr>
              <p:cNvSpPr/>
              <p:nvPr/>
            </p:nvSpPr>
            <p:spPr>
              <a:xfrm>
                <a:off x="228600" y="4892040"/>
                <a:ext cx="1417320" cy="160020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Pallets, actuators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are stored.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Containment area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(Quality)</a:t>
                </a:r>
                <a:endParaRPr lang="en-US" sz="1000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8DB023-F48A-1594-9EAF-D2DF21FC7ACE}"/>
                </a:ext>
              </a:extLst>
            </p:cNvPr>
            <p:cNvGrpSpPr/>
            <p:nvPr/>
          </p:nvGrpSpPr>
          <p:grpSpPr>
            <a:xfrm>
              <a:off x="7299305" y="55249"/>
              <a:ext cx="990601" cy="528992"/>
              <a:chOff x="228600" y="1965960"/>
              <a:chExt cx="685800" cy="640080"/>
            </a:xfrm>
          </p:grpSpPr>
          <p:sp>
            <p:nvSpPr>
              <p:cNvPr id="58" name="Shape 25">
                <a:extLst>
                  <a:ext uri="{FF2B5EF4-FFF2-40B4-BE49-F238E27FC236}">
                    <a16:creationId xmlns:a16="http://schemas.microsoft.com/office/drawing/2014/main" id="{9CF7BE76-8418-9340-A5A9-C39E56B18506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" name="Text 26">
                <a:extLst>
                  <a:ext uri="{FF2B5EF4-FFF2-40B4-BE49-F238E27FC236}">
                    <a16:creationId xmlns:a16="http://schemas.microsoft.com/office/drawing/2014/main" id="{1A4A94E0-5B6D-0C4B-00B3-275126FAEBF3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DOWNSTAIRS</a:t>
                </a:r>
                <a:endParaRPr lang="en-US" sz="9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CC1BC32-8229-2E85-43D0-810388CD1A44}"/>
                </a:ext>
              </a:extLst>
            </p:cNvPr>
            <p:cNvGrpSpPr/>
            <p:nvPr/>
          </p:nvGrpSpPr>
          <p:grpSpPr>
            <a:xfrm>
              <a:off x="9112624" y="228600"/>
              <a:ext cx="2728856" cy="1051560"/>
              <a:chOff x="10058400" y="228600"/>
              <a:chExt cx="1783080" cy="1051560"/>
            </a:xfrm>
          </p:grpSpPr>
          <p:sp>
            <p:nvSpPr>
              <p:cNvPr id="56" name="Shape 6">
                <a:extLst>
                  <a:ext uri="{FF2B5EF4-FFF2-40B4-BE49-F238E27FC236}">
                    <a16:creationId xmlns:a16="http://schemas.microsoft.com/office/drawing/2014/main" id="{099F7449-9691-5220-8A74-257C88C7F9F3}"/>
                  </a:ext>
                </a:extLst>
              </p:cNvPr>
              <p:cNvSpPr/>
              <p:nvPr/>
            </p:nvSpPr>
            <p:spPr>
              <a:xfrm>
                <a:off x="10058400" y="228600"/>
                <a:ext cx="1783080" cy="105156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 7">
                <a:extLst>
                  <a:ext uri="{FF2B5EF4-FFF2-40B4-BE49-F238E27FC236}">
                    <a16:creationId xmlns:a16="http://schemas.microsoft.com/office/drawing/2014/main" id="{D9866FF0-16DF-B811-54FB-187E50B60F8A}"/>
                  </a:ext>
                </a:extLst>
              </p:cNvPr>
              <p:cNvSpPr/>
              <p:nvPr/>
            </p:nvSpPr>
            <p:spPr>
              <a:xfrm>
                <a:off x="10058400" y="228600"/>
                <a:ext cx="1783080" cy="105156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MATERIAL STORAGE</a:t>
                </a:r>
                <a:endParaRPr lang="en-US" sz="11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95DB46-4A6D-30DF-3B5E-AD54466A73E6}"/>
                </a:ext>
              </a:extLst>
            </p:cNvPr>
            <p:cNvGrpSpPr/>
            <p:nvPr/>
          </p:nvGrpSpPr>
          <p:grpSpPr>
            <a:xfrm>
              <a:off x="10058400" y="2387848"/>
              <a:ext cx="1783080" cy="548640"/>
              <a:chOff x="10058400" y="2286000"/>
              <a:chExt cx="1783080" cy="548640"/>
            </a:xfrm>
          </p:grpSpPr>
          <p:sp>
            <p:nvSpPr>
              <p:cNvPr id="54" name="Shape 35">
                <a:extLst>
                  <a:ext uri="{FF2B5EF4-FFF2-40B4-BE49-F238E27FC236}">
                    <a16:creationId xmlns:a16="http://schemas.microsoft.com/office/drawing/2014/main" id="{CB05C218-77F0-8256-8E7E-F223C6A41F4E}"/>
                  </a:ext>
                </a:extLst>
              </p:cNvPr>
              <p:cNvSpPr/>
              <p:nvPr/>
            </p:nvSpPr>
            <p:spPr>
              <a:xfrm>
                <a:off x="10058400" y="2286000"/>
                <a:ext cx="1783080" cy="54864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 36">
                <a:extLst>
                  <a:ext uri="{FF2B5EF4-FFF2-40B4-BE49-F238E27FC236}">
                    <a16:creationId xmlns:a16="http://schemas.microsoft.com/office/drawing/2014/main" id="{308A9F26-D207-C9A5-9370-EADC140E78DA}"/>
                  </a:ext>
                </a:extLst>
              </p:cNvPr>
              <p:cNvSpPr/>
              <p:nvPr/>
            </p:nvSpPr>
            <p:spPr>
              <a:xfrm>
                <a:off x="10058400" y="2286000"/>
                <a:ext cx="1783080" cy="54864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PALLETS</a:t>
                </a:r>
                <a:endParaRPr lang="en-US" sz="1000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E256B30-14F1-B2DB-E1B8-98BE96119B43}"/>
                </a:ext>
              </a:extLst>
            </p:cNvPr>
            <p:cNvGrpSpPr/>
            <p:nvPr/>
          </p:nvGrpSpPr>
          <p:grpSpPr>
            <a:xfrm>
              <a:off x="10821358" y="2999864"/>
              <a:ext cx="1009650" cy="777240"/>
              <a:chOff x="10058400" y="2880360"/>
              <a:chExt cx="1783080" cy="777240"/>
            </a:xfrm>
          </p:grpSpPr>
          <p:sp>
            <p:nvSpPr>
              <p:cNvPr id="52" name="Shape 37">
                <a:extLst>
                  <a:ext uri="{FF2B5EF4-FFF2-40B4-BE49-F238E27FC236}">
                    <a16:creationId xmlns:a16="http://schemas.microsoft.com/office/drawing/2014/main" id="{26E521E6-89EB-C560-966C-59A41641E8ED}"/>
                  </a:ext>
                </a:extLst>
              </p:cNvPr>
              <p:cNvSpPr/>
              <p:nvPr/>
            </p:nvSpPr>
            <p:spPr>
              <a:xfrm>
                <a:off x="10058400" y="2880360"/>
                <a:ext cx="1783080" cy="77724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 38">
                <a:extLst>
                  <a:ext uri="{FF2B5EF4-FFF2-40B4-BE49-F238E27FC236}">
                    <a16:creationId xmlns:a16="http://schemas.microsoft.com/office/drawing/2014/main" id="{105C6DDE-7003-2923-36C6-A1D75FDEB899}"/>
                  </a:ext>
                </a:extLst>
              </p:cNvPr>
              <p:cNvSpPr/>
              <p:nvPr/>
            </p:nvSpPr>
            <p:spPr>
              <a:xfrm>
                <a:off x="10058400" y="2880360"/>
                <a:ext cx="1783080" cy="77724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ELEVATOR</a:t>
                </a:r>
                <a:endParaRPr lang="en-US" sz="1100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C850E29-B4F9-F3BC-6146-2ECCB13AE746}"/>
                </a:ext>
              </a:extLst>
            </p:cNvPr>
            <p:cNvGrpSpPr/>
            <p:nvPr/>
          </p:nvGrpSpPr>
          <p:grpSpPr>
            <a:xfrm>
              <a:off x="10047928" y="3840480"/>
              <a:ext cx="1783080" cy="903247"/>
              <a:chOff x="10058400" y="3703320"/>
              <a:chExt cx="1783080" cy="777240"/>
            </a:xfrm>
          </p:grpSpPr>
          <p:sp>
            <p:nvSpPr>
              <p:cNvPr id="50" name="Shape 39">
                <a:extLst>
                  <a:ext uri="{FF2B5EF4-FFF2-40B4-BE49-F238E27FC236}">
                    <a16:creationId xmlns:a16="http://schemas.microsoft.com/office/drawing/2014/main" id="{BCB3DA3B-B3E3-6357-0377-CC9155F12E8F}"/>
                  </a:ext>
                </a:extLst>
              </p:cNvPr>
              <p:cNvSpPr/>
              <p:nvPr/>
            </p:nvSpPr>
            <p:spPr>
              <a:xfrm>
                <a:off x="10058400" y="3703320"/>
                <a:ext cx="1783080" cy="77724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40">
                <a:extLst>
                  <a:ext uri="{FF2B5EF4-FFF2-40B4-BE49-F238E27FC236}">
                    <a16:creationId xmlns:a16="http://schemas.microsoft.com/office/drawing/2014/main" id="{227CFD19-F3AC-DA9D-1482-3529ECA774CE}"/>
                  </a:ext>
                </a:extLst>
              </p:cNvPr>
              <p:cNvSpPr/>
              <p:nvPr/>
            </p:nvSpPr>
            <p:spPr>
              <a:xfrm>
                <a:off x="10058400" y="3703320"/>
                <a:ext cx="1783080" cy="77724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 GOODS</a:t>
                </a:r>
                <a:endParaRPr lang="en-US" sz="100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FD1D3E5-EF53-4C6A-ED28-FD32E789D86E}"/>
                </a:ext>
              </a:extLst>
            </p:cNvPr>
            <p:cNvGrpSpPr/>
            <p:nvPr/>
          </p:nvGrpSpPr>
          <p:grpSpPr>
            <a:xfrm>
              <a:off x="10058400" y="4802326"/>
              <a:ext cx="1783080" cy="914400"/>
              <a:chOff x="10058400" y="4526280"/>
              <a:chExt cx="1783080" cy="777240"/>
            </a:xfrm>
          </p:grpSpPr>
          <p:sp>
            <p:nvSpPr>
              <p:cNvPr id="48" name="Shape 41">
                <a:extLst>
                  <a:ext uri="{FF2B5EF4-FFF2-40B4-BE49-F238E27FC236}">
                    <a16:creationId xmlns:a16="http://schemas.microsoft.com/office/drawing/2014/main" id="{9D3EA9B8-7B8B-E64B-8A61-70AD96C89D5E}"/>
                  </a:ext>
                </a:extLst>
              </p:cNvPr>
              <p:cNvSpPr/>
              <p:nvPr/>
            </p:nvSpPr>
            <p:spPr>
              <a:xfrm>
                <a:off x="10058400" y="4526280"/>
                <a:ext cx="1783080" cy="77724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 42">
                <a:extLst>
                  <a:ext uri="{FF2B5EF4-FFF2-40B4-BE49-F238E27FC236}">
                    <a16:creationId xmlns:a16="http://schemas.microsoft.com/office/drawing/2014/main" id="{F0FBAA25-1A67-A436-5A06-F2D22D7839B1}"/>
                  </a:ext>
                </a:extLst>
              </p:cNvPr>
              <p:cNvSpPr/>
              <p:nvPr/>
            </p:nvSpPr>
            <p:spPr>
              <a:xfrm>
                <a:off x="10058400" y="4526280"/>
                <a:ext cx="1783080" cy="77724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PALLETS AND SCRAP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051C375-0CC3-CBF9-6930-61B21AB25A4B}"/>
                </a:ext>
              </a:extLst>
            </p:cNvPr>
            <p:cNvGrpSpPr/>
            <p:nvPr/>
          </p:nvGrpSpPr>
          <p:grpSpPr>
            <a:xfrm>
              <a:off x="1082990" y="111321"/>
              <a:ext cx="990601" cy="528992"/>
              <a:chOff x="228600" y="1965960"/>
              <a:chExt cx="685800" cy="640080"/>
            </a:xfrm>
          </p:grpSpPr>
          <p:sp>
            <p:nvSpPr>
              <p:cNvPr id="46" name="Shape 25">
                <a:extLst>
                  <a:ext uri="{FF2B5EF4-FFF2-40B4-BE49-F238E27FC236}">
                    <a16:creationId xmlns:a16="http://schemas.microsoft.com/office/drawing/2014/main" id="{FCA073EA-22FF-80F7-278D-5D7C9405D629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Text 26">
                <a:extLst>
                  <a:ext uri="{FF2B5EF4-FFF2-40B4-BE49-F238E27FC236}">
                    <a16:creationId xmlns:a16="http://schemas.microsoft.com/office/drawing/2014/main" id="{4A20F3EB-B18E-F9E5-464E-38216B72D497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PALLETS</a:t>
                </a:r>
                <a:endParaRPr lang="en-US" sz="9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857FEE-13F7-1AD5-C05A-E1C54E73F283}"/>
                </a:ext>
              </a:extLst>
            </p:cNvPr>
            <p:cNvGrpSpPr/>
            <p:nvPr/>
          </p:nvGrpSpPr>
          <p:grpSpPr>
            <a:xfrm>
              <a:off x="2337434" y="111321"/>
              <a:ext cx="2155507" cy="528992"/>
              <a:chOff x="228600" y="1965960"/>
              <a:chExt cx="685800" cy="640080"/>
            </a:xfrm>
          </p:grpSpPr>
          <p:sp>
            <p:nvSpPr>
              <p:cNvPr id="44" name="Shape 25">
                <a:extLst>
                  <a:ext uri="{FF2B5EF4-FFF2-40B4-BE49-F238E27FC236}">
                    <a16:creationId xmlns:a16="http://schemas.microsoft.com/office/drawing/2014/main" id="{1F40B4DB-7406-E29D-6669-BEF3017FE915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Text 26">
                <a:extLst>
                  <a:ext uri="{FF2B5EF4-FFF2-40B4-BE49-F238E27FC236}">
                    <a16:creationId xmlns:a16="http://schemas.microsoft.com/office/drawing/2014/main" id="{95F327E6-86CC-AFE3-D2CB-4F9A6FEE5A6C}"/>
                  </a:ext>
                </a:extLst>
              </p:cNvPr>
              <p:cNvSpPr/>
              <p:nvPr/>
            </p:nvSpPr>
            <p:spPr>
              <a:xfrm>
                <a:off x="228600" y="1965960"/>
                <a:ext cx="685800" cy="64008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WORK AREA</a:t>
                </a:r>
                <a:endParaRPr lang="en-US" sz="900" dirty="0"/>
              </a:p>
            </p:txBody>
          </p:sp>
        </p:grpSp>
        <p:sp>
          <p:nvSpPr>
            <p:cNvPr id="21" name="Shape 47">
              <a:extLst>
                <a:ext uri="{FF2B5EF4-FFF2-40B4-BE49-F238E27FC236}">
                  <a16:creationId xmlns:a16="http://schemas.microsoft.com/office/drawing/2014/main" id="{4CB6A2F2-6C43-49F8-D544-F1817B9F04F4}"/>
                </a:ext>
              </a:extLst>
            </p:cNvPr>
            <p:cNvSpPr/>
            <p:nvPr/>
          </p:nvSpPr>
          <p:spPr>
            <a:xfrm>
              <a:off x="5486400" y="4949190"/>
              <a:ext cx="4457700" cy="1874520"/>
            </a:xfrm>
            <a:prstGeom prst="roundRect">
              <a:avLst/>
            </a:prstGeom>
            <a:solidFill>
              <a:srgbClr val="E3D3E8"/>
            </a:solidFill>
            <a:ln w="12700">
              <a:solidFill>
                <a:srgbClr val="6B5B7A"/>
              </a:solidFill>
              <a:prstDash val="solid"/>
            </a:ln>
            <a:effectLst>
              <a:outerShdw blurRad="38100" dist="25400" dir="5400000" algn="bl" rotWithShape="0">
                <a:srgbClr val="888888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48">
              <a:extLst>
                <a:ext uri="{FF2B5EF4-FFF2-40B4-BE49-F238E27FC236}">
                  <a16:creationId xmlns:a16="http://schemas.microsoft.com/office/drawing/2014/main" id="{747DFFCE-2CC1-5FED-B6C9-30DDAA8FF5A6}"/>
                </a:ext>
              </a:extLst>
            </p:cNvPr>
            <p:cNvSpPr/>
            <p:nvPr/>
          </p:nvSpPr>
          <p:spPr>
            <a:xfrm>
              <a:off x="5669280" y="5086350"/>
              <a:ext cx="1303584" cy="914400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dashDot"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3" name="Text 49">
              <a:extLst>
                <a:ext uri="{FF2B5EF4-FFF2-40B4-BE49-F238E27FC236}">
                  <a16:creationId xmlns:a16="http://schemas.microsoft.com/office/drawing/2014/main" id="{06B027D5-2A86-0AFB-D5D0-5B906FE9FA68}"/>
                </a:ext>
              </a:extLst>
            </p:cNvPr>
            <p:cNvSpPr/>
            <p:nvPr/>
          </p:nvSpPr>
          <p:spPr>
            <a:xfrm>
              <a:off x="5669280" y="5086350"/>
              <a:ext cx="1303584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AREA</a:t>
              </a:r>
              <a:endParaRPr lang="en-US" sz="1000" dirty="0"/>
            </a:p>
          </p:txBody>
        </p:sp>
        <p:sp>
          <p:nvSpPr>
            <p:cNvPr id="24" name="Shape 62">
              <a:extLst>
                <a:ext uri="{FF2B5EF4-FFF2-40B4-BE49-F238E27FC236}">
                  <a16:creationId xmlns:a16="http://schemas.microsoft.com/office/drawing/2014/main" id="{08D11115-EC32-4935-AEF5-38E7DE04280B}"/>
                </a:ext>
              </a:extLst>
            </p:cNvPr>
            <p:cNvSpPr/>
            <p:nvPr/>
          </p:nvSpPr>
          <p:spPr>
            <a:xfrm>
              <a:off x="5669280" y="6137910"/>
              <a:ext cx="1303584" cy="548640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dashDot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63">
              <a:extLst>
                <a:ext uri="{FF2B5EF4-FFF2-40B4-BE49-F238E27FC236}">
                  <a16:creationId xmlns:a16="http://schemas.microsoft.com/office/drawing/2014/main" id="{05CF07BB-9518-FCC9-6322-1A54446C2B12}"/>
                </a:ext>
              </a:extLst>
            </p:cNvPr>
            <p:cNvSpPr/>
            <p:nvPr/>
          </p:nvSpPr>
          <p:spPr>
            <a:xfrm>
              <a:off x="5669280" y="6046470"/>
              <a:ext cx="1303584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ELECTRONIC AREA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 fixed assets.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is identified.</a:t>
              </a:r>
              <a:endParaRPr lang="en-US" sz="850" dirty="0"/>
            </a:p>
          </p:txBody>
        </p:sp>
        <p:sp>
          <p:nvSpPr>
            <p:cNvPr id="26" name="Shape 64">
              <a:extLst>
                <a:ext uri="{FF2B5EF4-FFF2-40B4-BE49-F238E27FC236}">
                  <a16:creationId xmlns:a16="http://schemas.microsoft.com/office/drawing/2014/main" id="{FB21A5AF-39B3-C554-C872-E7DA64BC93EB}"/>
                </a:ext>
              </a:extLst>
            </p:cNvPr>
            <p:cNvSpPr/>
            <p:nvPr/>
          </p:nvSpPr>
          <p:spPr>
            <a:xfrm>
              <a:off x="7406640" y="6137910"/>
              <a:ext cx="1261533" cy="548640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dashDot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65">
              <a:extLst>
                <a:ext uri="{FF2B5EF4-FFF2-40B4-BE49-F238E27FC236}">
                  <a16:creationId xmlns:a16="http://schemas.microsoft.com/office/drawing/2014/main" id="{930FE925-2E0F-BB67-D6DD-BDC4D374360C}"/>
                </a:ext>
              </a:extLst>
            </p:cNvPr>
            <p:cNvSpPr/>
            <p:nvPr/>
          </p:nvSpPr>
          <p:spPr>
            <a:xfrm>
              <a:off x="7406640" y="6092190"/>
              <a:ext cx="1261533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ANALYSIS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fixtures.</a:t>
              </a: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0 Identified</a:t>
              </a:r>
              <a:endParaRPr lang="en-US" sz="90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E1A91BE-B8AC-F8C8-8E43-1D81D7AC23AE}"/>
                </a:ext>
              </a:extLst>
            </p:cNvPr>
            <p:cNvGrpSpPr/>
            <p:nvPr/>
          </p:nvGrpSpPr>
          <p:grpSpPr>
            <a:xfrm>
              <a:off x="9226296" y="5221468"/>
              <a:ext cx="267328" cy="486151"/>
              <a:chOff x="9226296" y="5558825"/>
              <a:chExt cx="267328" cy="486151"/>
            </a:xfrm>
          </p:grpSpPr>
          <p:sp>
            <p:nvSpPr>
              <p:cNvPr id="42" name="Shape 27">
                <a:extLst>
                  <a:ext uri="{FF2B5EF4-FFF2-40B4-BE49-F238E27FC236}">
                    <a16:creationId xmlns:a16="http://schemas.microsoft.com/office/drawing/2014/main" id="{0ACF2DB0-33D7-A3AD-708E-7B195062FBE0}"/>
                  </a:ext>
                </a:extLst>
              </p:cNvPr>
              <p:cNvSpPr/>
              <p:nvPr/>
            </p:nvSpPr>
            <p:spPr>
              <a:xfrm>
                <a:off x="9268264" y="5558825"/>
                <a:ext cx="170118" cy="157367"/>
              </a:xfrm>
              <a:prstGeom prst="ellipse">
                <a:avLst/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Shape 28">
                <a:extLst>
                  <a:ext uri="{FF2B5EF4-FFF2-40B4-BE49-F238E27FC236}">
                    <a16:creationId xmlns:a16="http://schemas.microsoft.com/office/drawing/2014/main" id="{35C5F3B1-23BC-1AB9-B64F-229EE4517D7A}"/>
                  </a:ext>
                </a:extLst>
              </p:cNvPr>
              <p:cNvSpPr/>
              <p:nvPr/>
            </p:nvSpPr>
            <p:spPr>
              <a:xfrm>
                <a:off x="9226296" y="5730242"/>
                <a:ext cx="267328" cy="314734"/>
              </a:xfrm>
              <a:prstGeom prst="roundRect">
                <a:avLst>
                  <a:gd name="adj" fmla="val 27273"/>
                </a:avLst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AFD15B6-E589-D52A-7BB0-875211DE00F0}"/>
                </a:ext>
              </a:extLst>
            </p:cNvPr>
            <p:cNvGrpSpPr/>
            <p:nvPr/>
          </p:nvGrpSpPr>
          <p:grpSpPr>
            <a:xfrm>
              <a:off x="8845296" y="5230993"/>
              <a:ext cx="267328" cy="486151"/>
              <a:chOff x="9226296" y="5558825"/>
              <a:chExt cx="267328" cy="486151"/>
            </a:xfrm>
          </p:grpSpPr>
          <p:sp>
            <p:nvSpPr>
              <p:cNvPr id="40" name="Shape 27">
                <a:extLst>
                  <a:ext uri="{FF2B5EF4-FFF2-40B4-BE49-F238E27FC236}">
                    <a16:creationId xmlns:a16="http://schemas.microsoft.com/office/drawing/2014/main" id="{0D91E4F8-6C15-2A23-8C01-738B7BEA7ADE}"/>
                  </a:ext>
                </a:extLst>
              </p:cNvPr>
              <p:cNvSpPr/>
              <p:nvPr/>
            </p:nvSpPr>
            <p:spPr>
              <a:xfrm>
                <a:off x="9268264" y="5558825"/>
                <a:ext cx="170118" cy="157367"/>
              </a:xfrm>
              <a:prstGeom prst="ellipse">
                <a:avLst/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Shape 28">
                <a:extLst>
                  <a:ext uri="{FF2B5EF4-FFF2-40B4-BE49-F238E27FC236}">
                    <a16:creationId xmlns:a16="http://schemas.microsoft.com/office/drawing/2014/main" id="{869F1EDC-BE4B-C8DE-71E1-F8E49CE0E658}"/>
                  </a:ext>
                </a:extLst>
              </p:cNvPr>
              <p:cNvSpPr/>
              <p:nvPr/>
            </p:nvSpPr>
            <p:spPr>
              <a:xfrm>
                <a:off x="9226296" y="5730242"/>
                <a:ext cx="267328" cy="314734"/>
              </a:xfrm>
              <a:prstGeom prst="roundRect">
                <a:avLst>
                  <a:gd name="adj" fmla="val 27273"/>
                </a:avLst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64258D3-49F6-8A79-0F3A-C8726942776A}"/>
                </a:ext>
              </a:extLst>
            </p:cNvPr>
            <p:cNvGrpSpPr/>
            <p:nvPr/>
          </p:nvGrpSpPr>
          <p:grpSpPr>
            <a:xfrm>
              <a:off x="8464296" y="5221468"/>
              <a:ext cx="267328" cy="486151"/>
              <a:chOff x="9226296" y="5558825"/>
              <a:chExt cx="267328" cy="486151"/>
            </a:xfrm>
          </p:grpSpPr>
          <p:sp>
            <p:nvSpPr>
              <p:cNvPr id="38" name="Shape 27">
                <a:extLst>
                  <a:ext uri="{FF2B5EF4-FFF2-40B4-BE49-F238E27FC236}">
                    <a16:creationId xmlns:a16="http://schemas.microsoft.com/office/drawing/2014/main" id="{CC7771ED-37D8-3D7D-FEBF-5507A1346320}"/>
                  </a:ext>
                </a:extLst>
              </p:cNvPr>
              <p:cNvSpPr/>
              <p:nvPr/>
            </p:nvSpPr>
            <p:spPr>
              <a:xfrm>
                <a:off x="9268264" y="5558825"/>
                <a:ext cx="170118" cy="157367"/>
              </a:xfrm>
              <a:prstGeom prst="ellipse">
                <a:avLst/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Shape 28">
                <a:extLst>
                  <a:ext uri="{FF2B5EF4-FFF2-40B4-BE49-F238E27FC236}">
                    <a16:creationId xmlns:a16="http://schemas.microsoft.com/office/drawing/2014/main" id="{C13E59B0-CFF9-440C-D9B4-796F5A3A0015}"/>
                  </a:ext>
                </a:extLst>
              </p:cNvPr>
              <p:cNvSpPr/>
              <p:nvPr/>
            </p:nvSpPr>
            <p:spPr>
              <a:xfrm>
                <a:off x="9226296" y="5730242"/>
                <a:ext cx="267328" cy="314734"/>
              </a:xfrm>
              <a:prstGeom prst="roundRect">
                <a:avLst>
                  <a:gd name="adj" fmla="val 27273"/>
                </a:avLst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0C649A0-9896-103E-5FC5-C9E7AD2EC34C}"/>
                </a:ext>
              </a:extLst>
            </p:cNvPr>
            <p:cNvGrpSpPr/>
            <p:nvPr/>
          </p:nvGrpSpPr>
          <p:grpSpPr>
            <a:xfrm>
              <a:off x="8083296" y="5230993"/>
              <a:ext cx="267328" cy="486151"/>
              <a:chOff x="9226296" y="5558825"/>
              <a:chExt cx="267328" cy="486151"/>
            </a:xfrm>
          </p:grpSpPr>
          <p:sp>
            <p:nvSpPr>
              <p:cNvPr id="36" name="Shape 27">
                <a:extLst>
                  <a:ext uri="{FF2B5EF4-FFF2-40B4-BE49-F238E27FC236}">
                    <a16:creationId xmlns:a16="http://schemas.microsoft.com/office/drawing/2014/main" id="{7F62704E-3BAB-B79E-2A62-3A1FE6BB6E4E}"/>
                  </a:ext>
                </a:extLst>
              </p:cNvPr>
              <p:cNvSpPr/>
              <p:nvPr/>
            </p:nvSpPr>
            <p:spPr>
              <a:xfrm>
                <a:off x="9268264" y="5558825"/>
                <a:ext cx="170118" cy="157367"/>
              </a:xfrm>
              <a:prstGeom prst="ellipse">
                <a:avLst/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Shape 28">
                <a:extLst>
                  <a:ext uri="{FF2B5EF4-FFF2-40B4-BE49-F238E27FC236}">
                    <a16:creationId xmlns:a16="http://schemas.microsoft.com/office/drawing/2014/main" id="{39F10C6E-9550-4CEF-558E-CC65B2432A07}"/>
                  </a:ext>
                </a:extLst>
              </p:cNvPr>
              <p:cNvSpPr/>
              <p:nvPr/>
            </p:nvSpPr>
            <p:spPr>
              <a:xfrm>
                <a:off x="9226296" y="5730242"/>
                <a:ext cx="267328" cy="314734"/>
              </a:xfrm>
              <a:prstGeom prst="roundRect">
                <a:avLst>
                  <a:gd name="adj" fmla="val 27273"/>
                </a:avLst>
              </a:prstGeom>
              <a:solidFill>
                <a:srgbClr val="E8942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02CE11A-C6A2-76C7-A7CE-704BE2CFDD60}"/>
                </a:ext>
              </a:extLst>
            </p:cNvPr>
            <p:cNvGrpSpPr/>
            <p:nvPr/>
          </p:nvGrpSpPr>
          <p:grpSpPr>
            <a:xfrm>
              <a:off x="10821358" y="1547232"/>
              <a:ext cx="1009650" cy="777240"/>
              <a:chOff x="10058400" y="2880360"/>
              <a:chExt cx="1783080" cy="777240"/>
            </a:xfrm>
          </p:grpSpPr>
          <p:sp>
            <p:nvSpPr>
              <p:cNvPr id="34" name="Shape 37">
                <a:extLst>
                  <a:ext uri="{FF2B5EF4-FFF2-40B4-BE49-F238E27FC236}">
                    <a16:creationId xmlns:a16="http://schemas.microsoft.com/office/drawing/2014/main" id="{A12FF613-BC19-C1AA-FAC5-D5B0E38B38C7}"/>
                  </a:ext>
                </a:extLst>
              </p:cNvPr>
              <p:cNvSpPr/>
              <p:nvPr/>
            </p:nvSpPr>
            <p:spPr>
              <a:xfrm>
                <a:off x="10058400" y="2880360"/>
                <a:ext cx="1783080" cy="777240"/>
              </a:xfrm>
              <a:prstGeom prst="roundRect">
                <a:avLst/>
              </a:prstGeom>
              <a:solidFill>
                <a:srgbClr val="E3D3E8"/>
              </a:solidFill>
              <a:ln w="12700">
                <a:solidFill>
                  <a:srgbClr val="6B5B7A"/>
                </a:solidFill>
                <a:prstDash val="solid"/>
              </a:ln>
              <a:effectLst>
                <a:outerShdw blurRad="38100" dist="25400" dir="5400000" algn="bl" rotWithShape="0">
                  <a:srgbClr val="888888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8">
                <a:extLst>
                  <a:ext uri="{FF2B5EF4-FFF2-40B4-BE49-F238E27FC236}">
                    <a16:creationId xmlns:a16="http://schemas.microsoft.com/office/drawing/2014/main" id="{565251BE-DEF1-8BF7-FD1A-7D561F1BEE0A}"/>
                  </a:ext>
                </a:extLst>
              </p:cNvPr>
              <p:cNvSpPr/>
              <p:nvPr/>
            </p:nvSpPr>
            <p:spPr>
              <a:xfrm>
                <a:off x="10058400" y="2880360"/>
                <a:ext cx="1783080" cy="777240"/>
              </a:xfrm>
              <a:prstGeom prst="round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2A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ELEVATOR</a:t>
                </a:r>
                <a:endParaRPr lang="en-US" sz="1100" dirty="0"/>
              </a:p>
            </p:txBody>
          </p:sp>
        </p:grp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0BAC88CC-A002-A0A0-8E44-79C5C7CF7C2B}"/>
                </a:ext>
              </a:extLst>
            </p:cNvPr>
            <p:cNvSpPr/>
            <p:nvPr/>
          </p:nvSpPr>
          <p:spPr>
            <a:xfrm rot="10800000">
              <a:off x="2158410" y="4433381"/>
              <a:ext cx="394336" cy="208106"/>
            </a:xfrm>
            <a:prstGeom prst="rightArrow">
              <a:avLst>
                <a:gd name="adj1" fmla="val 36875"/>
                <a:gd name="adj2" fmla="val 7406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584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42BE49-6611-D8E7-F7D1-6312DFF8ED28}"/>
              </a:ext>
            </a:extLst>
          </p:cNvPr>
          <p:cNvSpPr txBox="1">
            <a:spLocks/>
          </p:cNvSpPr>
          <p:nvPr/>
        </p:nvSpPr>
        <p:spPr>
          <a:xfrm>
            <a:off x="458232" y="43693"/>
            <a:ext cx="10971768" cy="57606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r>
              <a:rPr lang="es-MX" sz="2000" kern="0" baseline="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T</a:t>
            </a:r>
            <a:r>
              <a:rPr lang="en-US" sz="2000" kern="0" baseline="0" dirty="0">
                <a:solidFill>
                  <a:srgbClr val="FF6600"/>
                </a:solidFill>
                <a:ea typeface="PMingLiU" pitchFamily="18" charset="-120"/>
                <a:cs typeface="Arial" charset="0"/>
              </a:rPr>
              <a:t>EMPORARY WHAREHOUSE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331A16-6F71-57B1-2628-B2DB611A7315}"/>
              </a:ext>
            </a:extLst>
          </p:cNvPr>
          <p:cNvGrpSpPr/>
          <p:nvPr/>
        </p:nvGrpSpPr>
        <p:grpSpPr>
          <a:xfrm>
            <a:off x="902778" y="423478"/>
            <a:ext cx="10386443" cy="6011044"/>
            <a:chOff x="30080" y="-37933"/>
            <a:chExt cx="11843851" cy="6854503"/>
          </a:xfrm>
          <a:solidFill>
            <a:srgbClr val="E3D3E8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C5FDED0-C7D1-AC2E-C541-374773B420B7}"/>
                </a:ext>
              </a:extLst>
            </p:cNvPr>
            <p:cNvGrpSpPr/>
            <p:nvPr/>
          </p:nvGrpSpPr>
          <p:grpSpPr>
            <a:xfrm rot="5400000">
              <a:off x="1166697" y="-429812"/>
              <a:ext cx="1154754" cy="2377814"/>
              <a:chOff x="152321" y="552761"/>
              <a:chExt cx="524063" cy="1005840"/>
            </a:xfrm>
            <a:grpFill/>
          </p:grpSpPr>
          <p:sp>
            <p:nvSpPr>
              <p:cNvPr id="48" name="Shape 0">
                <a:extLst>
                  <a:ext uri="{FF2B5EF4-FFF2-40B4-BE49-F238E27FC236}">
                    <a16:creationId xmlns:a16="http://schemas.microsoft.com/office/drawing/2014/main" id="{39D2C35F-7D5E-77AC-2A12-225BF05FE55B}"/>
                  </a:ext>
                </a:extLst>
              </p:cNvPr>
              <p:cNvSpPr/>
              <p:nvPr/>
            </p:nvSpPr>
            <p:spPr>
              <a:xfrm>
                <a:off x="152321" y="552761"/>
                <a:ext cx="524063" cy="1005840"/>
              </a:xfrm>
              <a:prstGeom prst="roundRect">
                <a:avLst>
                  <a:gd name="adj" fmla="val 28571"/>
                </a:avLst>
              </a:prstGeom>
              <a:grpFill/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Text 1">
                <a:extLst>
                  <a:ext uri="{FF2B5EF4-FFF2-40B4-BE49-F238E27FC236}">
                    <a16:creationId xmlns:a16="http://schemas.microsoft.com/office/drawing/2014/main" id="{78A561A5-4C2B-66A9-2A7B-E508E7CF0E4C}"/>
                  </a:ext>
                </a:extLst>
              </p:cNvPr>
              <p:cNvSpPr/>
              <p:nvPr/>
            </p:nvSpPr>
            <p:spPr>
              <a:xfrm>
                <a:off x="212272" y="610069"/>
                <a:ext cx="423441" cy="824696"/>
              </a:xfrm>
              <a:prstGeom prst="rect">
                <a:avLst/>
              </a:prstGeom>
              <a:grp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7CA9B65-F4B9-05C3-97CD-831DBEE3FCFD}"/>
                </a:ext>
              </a:extLst>
            </p:cNvPr>
            <p:cNvGrpSpPr/>
            <p:nvPr/>
          </p:nvGrpSpPr>
          <p:grpSpPr>
            <a:xfrm>
              <a:off x="30080" y="154206"/>
              <a:ext cx="397256" cy="4092306"/>
              <a:chOff x="324581" y="394130"/>
              <a:chExt cx="322412" cy="1005840"/>
            </a:xfrm>
            <a:grpFill/>
          </p:grpSpPr>
          <p:sp>
            <p:nvSpPr>
              <p:cNvPr id="46" name="Shape 0">
                <a:extLst>
                  <a:ext uri="{FF2B5EF4-FFF2-40B4-BE49-F238E27FC236}">
                    <a16:creationId xmlns:a16="http://schemas.microsoft.com/office/drawing/2014/main" id="{478C9370-428D-F63C-7061-6284E6B52411}"/>
                  </a:ext>
                </a:extLst>
              </p:cNvPr>
              <p:cNvSpPr/>
              <p:nvPr/>
            </p:nvSpPr>
            <p:spPr>
              <a:xfrm>
                <a:off x="324581" y="394130"/>
                <a:ext cx="320040" cy="1005840"/>
              </a:xfrm>
              <a:prstGeom prst="roundRect">
                <a:avLst>
                  <a:gd name="adj" fmla="val 28571"/>
                </a:avLst>
              </a:prstGeom>
              <a:solidFill>
                <a:schemeClr val="bg1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Text 1">
                <a:extLst>
                  <a:ext uri="{FF2B5EF4-FFF2-40B4-BE49-F238E27FC236}">
                    <a16:creationId xmlns:a16="http://schemas.microsoft.com/office/drawing/2014/main" id="{8E2BB4E3-43AD-DFC4-5F9A-EF7927A2F594}"/>
                  </a:ext>
                </a:extLst>
              </p:cNvPr>
              <p:cNvSpPr/>
              <p:nvPr/>
            </p:nvSpPr>
            <p:spPr>
              <a:xfrm>
                <a:off x="326953" y="411475"/>
                <a:ext cx="320040" cy="949037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1F2A37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ENTRY PARKING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961373-F4FF-02A0-4F97-815944A983D2}"/>
                </a:ext>
              </a:extLst>
            </p:cNvPr>
            <p:cNvGrpSpPr/>
            <p:nvPr/>
          </p:nvGrpSpPr>
          <p:grpSpPr>
            <a:xfrm rot="5400000">
              <a:off x="452871" y="5586907"/>
              <a:ext cx="1045074" cy="1240960"/>
              <a:chOff x="114110" y="386728"/>
              <a:chExt cx="524063" cy="1005840"/>
            </a:xfrm>
            <a:grpFill/>
          </p:grpSpPr>
          <p:sp>
            <p:nvSpPr>
              <p:cNvPr id="44" name="Shape 0">
                <a:extLst>
                  <a:ext uri="{FF2B5EF4-FFF2-40B4-BE49-F238E27FC236}">
                    <a16:creationId xmlns:a16="http://schemas.microsoft.com/office/drawing/2014/main" id="{A4559035-2244-EE20-45B4-EC9B1553FBEA}"/>
                  </a:ext>
                </a:extLst>
              </p:cNvPr>
              <p:cNvSpPr/>
              <p:nvPr/>
            </p:nvSpPr>
            <p:spPr>
              <a:xfrm>
                <a:off x="114110" y="386728"/>
                <a:ext cx="524063" cy="1005840"/>
              </a:xfrm>
              <a:prstGeom prst="roundRect">
                <a:avLst>
                  <a:gd name="adj" fmla="val 28571"/>
                </a:avLst>
              </a:prstGeom>
              <a:solidFill>
                <a:srgbClr val="6EEAD6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 1">
                <a:extLst>
                  <a:ext uri="{FF2B5EF4-FFF2-40B4-BE49-F238E27FC236}">
                    <a16:creationId xmlns:a16="http://schemas.microsoft.com/office/drawing/2014/main" id="{0445B3CD-DE31-FBBA-3B7D-D0F0C65B42DA}"/>
                  </a:ext>
                </a:extLst>
              </p:cNvPr>
              <p:cNvSpPr/>
              <p:nvPr/>
            </p:nvSpPr>
            <p:spPr>
              <a:xfrm>
                <a:off x="152033" y="529828"/>
                <a:ext cx="457996" cy="731772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DIE WASHER 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56ACFE-5A9E-8D3F-1242-DEE6D0763BAD}"/>
                </a:ext>
              </a:extLst>
            </p:cNvPr>
            <p:cNvGrpSpPr/>
            <p:nvPr/>
          </p:nvGrpSpPr>
          <p:grpSpPr>
            <a:xfrm rot="10800000">
              <a:off x="11476675" y="184322"/>
              <a:ext cx="397256" cy="4032077"/>
              <a:chOff x="318134" y="318770"/>
              <a:chExt cx="322412" cy="1073798"/>
            </a:xfrm>
            <a:grpFill/>
          </p:grpSpPr>
          <p:sp>
            <p:nvSpPr>
              <p:cNvPr id="42" name="Shape 0">
                <a:extLst>
                  <a:ext uri="{FF2B5EF4-FFF2-40B4-BE49-F238E27FC236}">
                    <a16:creationId xmlns:a16="http://schemas.microsoft.com/office/drawing/2014/main" id="{8A18C2B4-A79E-2876-C322-DF919A989469}"/>
                  </a:ext>
                </a:extLst>
              </p:cNvPr>
              <p:cNvSpPr/>
              <p:nvPr/>
            </p:nvSpPr>
            <p:spPr>
              <a:xfrm>
                <a:off x="318134" y="318770"/>
                <a:ext cx="320040" cy="1073798"/>
              </a:xfrm>
              <a:prstGeom prst="roundRect">
                <a:avLst>
                  <a:gd name="adj" fmla="val 28571"/>
                </a:avLst>
              </a:prstGeom>
              <a:solidFill>
                <a:schemeClr val="bg1"/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 1">
                <a:extLst>
                  <a:ext uri="{FF2B5EF4-FFF2-40B4-BE49-F238E27FC236}">
                    <a16:creationId xmlns:a16="http://schemas.microsoft.com/office/drawing/2014/main" id="{83F28A13-C076-A8EA-10C3-CFC1482DFC40}"/>
                  </a:ext>
                </a:extLst>
              </p:cNvPr>
              <p:cNvSpPr/>
              <p:nvPr/>
            </p:nvSpPr>
            <p:spPr>
              <a:xfrm>
                <a:off x="318135" y="318770"/>
                <a:ext cx="322411" cy="1005840"/>
              </a:xfrm>
              <a:prstGeom prst="rect">
                <a:avLst/>
              </a:prstGeom>
              <a:no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1F2A37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ENTRY JETC</a:t>
                </a:r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49AF7E-98CA-C1E3-4F06-3CF003686640}"/>
                </a:ext>
              </a:extLst>
            </p:cNvPr>
            <p:cNvGrpSpPr/>
            <p:nvPr/>
          </p:nvGrpSpPr>
          <p:grpSpPr>
            <a:xfrm rot="5400000">
              <a:off x="2707512" y="3076277"/>
              <a:ext cx="2646134" cy="4723188"/>
              <a:chOff x="152321" y="590487"/>
              <a:chExt cx="524063" cy="1005840"/>
            </a:xfrm>
            <a:grpFill/>
          </p:grpSpPr>
          <p:sp>
            <p:nvSpPr>
              <p:cNvPr id="40" name="Shape 0">
                <a:extLst>
                  <a:ext uri="{FF2B5EF4-FFF2-40B4-BE49-F238E27FC236}">
                    <a16:creationId xmlns:a16="http://schemas.microsoft.com/office/drawing/2014/main" id="{953FEE0B-5C60-D97C-85DE-D544717BBB1E}"/>
                  </a:ext>
                </a:extLst>
              </p:cNvPr>
              <p:cNvSpPr/>
              <p:nvPr/>
            </p:nvSpPr>
            <p:spPr>
              <a:xfrm>
                <a:off x="152321" y="590487"/>
                <a:ext cx="524063" cy="1005840"/>
              </a:xfrm>
              <a:prstGeom prst="roundRect">
                <a:avLst>
                  <a:gd name="adj" fmla="val 28571"/>
                </a:avLst>
              </a:prstGeom>
              <a:grpFill/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Text 1">
                <a:extLst>
                  <a:ext uri="{FF2B5EF4-FFF2-40B4-BE49-F238E27FC236}">
                    <a16:creationId xmlns:a16="http://schemas.microsoft.com/office/drawing/2014/main" id="{085B74DA-8645-D754-9EC5-F452064FAA99}"/>
                  </a:ext>
                </a:extLst>
              </p:cNvPr>
              <p:cNvSpPr/>
              <p:nvPr/>
            </p:nvSpPr>
            <p:spPr>
              <a:xfrm>
                <a:off x="186348" y="681060"/>
                <a:ext cx="464102" cy="824696"/>
              </a:xfrm>
              <a:prstGeom prst="rect">
                <a:avLst/>
              </a:prstGeom>
              <a:grp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MATERIAL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692106-248B-B5CC-CF0D-4D5D22A7EDA6}"/>
                </a:ext>
              </a:extLst>
            </p:cNvPr>
            <p:cNvGrpSpPr/>
            <p:nvPr/>
          </p:nvGrpSpPr>
          <p:grpSpPr>
            <a:xfrm rot="5400000">
              <a:off x="1135072" y="513970"/>
              <a:ext cx="2709804" cy="2041954"/>
              <a:chOff x="152321" y="552761"/>
              <a:chExt cx="524063" cy="1005840"/>
            </a:xfrm>
            <a:grpFill/>
          </p:grpSpPr>
          <p:sp>
            <p:nvSpPr>
              <p:cNvPr id="38" name="Shape 0">
                <a:extLst>
                  <a:ext uri="{FF2B5EF4-FFF2-40B4-BE49-F238E27FC236}">
                    <a16:creationId xmlns:a16="http://schemas.microsoft.com/office/drawing/2014/main" id="{58F42734-BBCE-869A-12BA-614A763866A4}"/>
                  </a:ext>
                </a:extLst>
              </p:cNvPr>
              <p:cNvSpPr/>
              <p:nvPr/>
            </p:nvSpPr>
            <p:spPr>
              <a:xfrm>
                <a:off x="152321" y="552761"/>
                <a:ext cx="524063" cy="1005840"/>
              </a:xfrm>
              <a:prstGeom prst="roundRect">
                <a:avLst>
                  <a:gd name="adj" fmla="val 28571"/>
                </a:avLst>
              </a:prstGeom>
              <a:grpFill/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 1">
                <a:extLst>
                  <a:ext uri="{FF2B5EF4-FFF2-40B4-BE49-F238E27FC236}">
                    <a16:creationId xmlns:a16="http://schemas.microsoft.com/office/drawing/2014/main" id="{E4021D22-1D33-292D-725F-80EC337DE7A3}"/>
                  </a:ext>
                </a:extLst>
              </p:cNvPr>
              <p:cNvSpPr/>
              <p:nvPr/>
            </p:nvSpPr>
            <p:spPr>
              <a:xfrm>
                <a:off x="181912" y="635393"/>
                <a:ext cx="454701" cy="82469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MATERIAL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F6D28C-9930-FD84-FAE9-A38687D1357D}"/>
                </a:ext>
              </a:extLst>
            </p:cNvPr>
            <p:cNvGrpSpPr/>
            <p:nvPr/>
          </p:nvGrpSpPr>
          <p:grpSpPr>
            <a:xfrm rot="5400000">
              <a:off x="3891324" y="263879"/>
              <a:ext cx="2709805" cy="2612224"/>
              <a:chOff x="152321" y="590487"/>
              <a:chExt cx="524063" cy="1005840"/>
            </a:xfrm>
            <a:grpFill/>
          </p:grpSpPr>
          <p:sp>
            <p:nvSpPr>
              <p:cNvPr id="36" name="Shape 0">
                <a:extLst>
                  <a:ext uri="{FF2B5EF4-FFF2-40B4-BE49-F238E27FC236}">
                    <a16:creationId xmlns:a16="http://schemas.microsoft.com/office/drawing/2014/main" id="{D4517258-B889-51B9-1D1A-A86121B2BD86}"/>
                  </a:ext>
                </a:extLst>
              </p:cNvPr>
              <p:cNvSpPr/>
              <p:nvPr/>
            </p:nvSpPr>
            <p:spPr>
              <a:xfrm>
                <a:off x="152321" y="590487"/>
                <a:ext cx="524063" cy="1005840"/>
              </a:xfrm>
              <a:prstGeom prst="roundRect">
                <a:avLst>
                  <a:gd name="adj" fmla="val 28571"/>
                </a:avLst>
              </a:prstGeom>
              <a:grpFill/>
              <a:ln w="12700">
                <a:solidFill>
                  <a:srgbClr val="3A4A5C"/>
                </a:solidFill>
                <a:prstDash val="solid"/>
              </a:ln>
            </p:spPr>
            <p:txBody>
              <a:bodyPr/>
              <a:lstStyle/>
              <a:p>
                <a:endParaRPr lang="en-US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Text 1">
                <a:extLst>
                  <a:ext uri="{FF2B5EF4-FFF2-40B4-BE49-F238E27FC236}">
                    <a16:creationId xmlns:a16="http://schemas.microsoft.com/office/drawing/2014/main" id="{B007FCC5-779E-10FB-F1BF-A53C9A280023}"/>
                  </a:ext>
                </a:extLst>
              </p:cNvPr>
              <p:cNvSpPr/>
              <p:nvPr/>
            </p:nvSpPr>
            <p:spPr>
              <a:xfrm>
                <a:off x="190368" y="681060"/>
                <a:ext cx="445396" cy="824697"/>
              </a:xfrm>
              <a:prstGeom prst="rect">
                <a:avLst/>
              </a:prstGeom>
              <a:grpFill/>
              <a:ln/>
            </p:spPr>
            <p:txBody>
              <a:bodyPr vert="vert270"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MATERIAL</a:t>
                </a:r>
              </a:p>
            </p:txBody>
          </p:sp>
        </p:grpSp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CB5897FA-129F-F38A-00CF-23D1BFD61AC2}"/>
                </a:ext>
              </a:extLst>
            </p:cNvPr>
            <p:cNvSpPr/>
            <p:nvPr/>
          </p:nvSpPr>
          <p:spPr>
            <a:xfrm rot="5400000">
              <a:off x="5838835" y="982707"/>
              <a:ext cx="2716073" cy="1168306"/>
            </a:xfrm>
            <a:prstGeom prst="roundRect">
              <a:avLst>
                <a:gd name="adj" fmla="val 28571"/>
              </a:avLst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95725AF8-597E-B353-05FF-F2ABE9391309}"/>
                </a:ext>
              </a:extLst>
            </p:cNvPr>
            <p:cNvSpPr/>
            <p:nvPr/>
          </p:nvSpPr>
          <p:spPr>
            <a:xfrm rot="5400000">
              <a:off x="5743696" y="5297877"/>
              <a:ext cx="2191611" cy="816780"/>
            </a:xfrm>
            <a:prstGeom prst="roundRect">
              <a:avLst>
                <a:gd name="adj" fmla="val 28571"/>
              </a:avLst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Shape 0">
              <a:extLst>
                <a:ext uri="{FF2B5EF4-FFF2-40B4-BE49-F238E27FC236}">
                  <a16:creationId xmlns:a16="http://schemas.microsoft.com/office/drawing/2014/main" id="{0BC010E5-8A2F-A6FC-D9B5-3FB178FE3FFA}"/>
                </a:ext>
              </a:extLst>
            </p:cNvPr>
            <p:cNvSpPr/>
            <p:nvPr/>
          </p:nvSpPr>
          <p:spPr>
            <a:xfrm rot="5400000">
              <a:off x="7603335" y="755035"/>
              <a:ext cx="2736455" cy="1603268"/>
            </a:xfrm>
            <a:prstGeom prst="roundRect">
              <a:avLst>
                <a:gd name="adj" fmla="val 28571"/>
              </a:avLst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C365EAD-FF78-496A-B4B8-6915DC4699B1}"/>
                </a:ext>
              </a:extLst>
            </p:cNvPr>
            <p:cNvSpPr/>
            <p:nvPr/>
          </p:nvSpPr>
          <p:spPr>
            <a:xfrm>
              <a:off x="3359850" y="12937"/>
              <a:ext cx="787987" cy="219620"/>
            </a:xfrm>
            <a:prstGeom prst="round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DOOR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55E117B-DD39-3B80-E745-35FD5897A1AC}"/>
                </a:ext>
              </a:extLst>
            </p:cNvPr>
            <p:cNvSpPr/>
            <p:nvPr/>
          </p:nvSpPr>
          <p:spPr>
            <a:xfrm>
              <a:off x="7527666" y="-37933"/>
              <a:ext cx="791569" cy="245251"/>
            </a:xfrm>
            <a:prstGeom prst="round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DOOR</a:t>
              </a:r>
            </a:p>
          </p:txBody>
        </p:sp>
        <p:sp>
          <p:nvSpPr>
            <p:cNvPr id="17" name="Shape 0">
              <a:extLst>
                <a:ext uri="{FF2B5EF4-FFF2-40B4-BE49-F238E27FC236}">
                  <a16:creationId xmlns:a16="http://schemas.microsoft.com/office/drawing/2014/main" id="{14979F0E-C994-EE77-AEE2-FA3D7723B298}"/>
                </a:ext>
              </a:extLst>
            </p:cNvPr>
            <p:cNvSpPr/>
            <p:nvPr/>
          </p:nvSpPr>
          <p:spPr>
            <a:xfrm>
              <a:off x="7279562" y="4114803"/>
              <a:ext cx="882525" cy="2701767"/>
            </a:xfrm>
            <a:prstGeom prst="roundRect">
              <a:avLst>
                <a:gd name="adj" fmla="val 28571"/>
              </a:avLst>
            </a:prstGeom>
            <a:solidFill>
              <a:srgbClr val="6EEAD6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Shape 0">
              <a:extLst>
                <a:ext uri="{FF2B5EF4-FFF2-40B4-BE49-F238E27FC236}">
                  <a16:creationId xmlns:a16="http://schemas.microsoft.com/office/drawing/2014/main" id="{0285D30A-1D5B-2184-A493-979E767FD85C}"/>
                </a:ext>
              </a:extLst>
            </p:cNvPr>
            <p:cNvSpPr/>
            <p:nvPr/>
          </p:nvSpPr>
          <p:spPr>
            <a:xfrm>
              <a:off x="8189360" y="4596377"/>
              <a:ext cx="1018701" cy="2175920"/>
            </a:xfrm>
            <a:prstGeom prst="roundRect">
              <a:avLst>
                <a:gd name="adj" fmla="val 28571"/>
              </a:avLst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pPr algn="ctr"/>
              <a:endParaRPr 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Shape 0">
              <a:extLst>
                <a:ext uri="{FF2B5EF4-FFF2-40B4-BE49-F238E27FC236}">
                  <a16:creationId xmlns:a16="http://schemas.microsoft.com/office/drawing/2014/main" id="{0D0B7503-EC6E-DA8F-80FE-11E27BA3F147}"/>
                </a:ext>
              </a:extLst>
            </p:cNvPr>
            <p:cNvSpPr/>
            <p:nvPr/>
          </p:nvSpPr>
          <p:spPr>
            <a:xfrm>
              <a:off x="9235335" y="4601695"/>
              <a:ext cx="1042539" cy="2183771"/>
            </a:xfrm>
            <a:prstGeom prst="roundRect">
              <a:avLst>
                <a:gd name="adj" fmla="val 28571"/>
              </a:avLst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pPr algn="ctr"/>
              <a:endParaRPr 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Shape 0">
              <a:extLst>
                <a:ext uri="{FF2B5EF4-FFF2-40B4-BE49-F238E27FC236}">
                  <a16:creationId xmlns:a16="http://schemas.microsoft.com/office/drawing/2014/main" id="{3E91AB50-382B-BF6D-F39F-4F9648DA09EF}"/>
                </a:ext>
              </a:extLst>
            </p:cNvPr>
            <p:cNvSpPr/>
            <p:nvPr/>
          </p:nvSpPr>
          <p:spPr>
            <a:xfrm>
              <a:off x="10306896" y="4564279"/>
              <a:ext cx="854632" cy="2211154"/>
            </a:xfrm>
            <a:prstGeom prst="roundRect">
              <a:avLst>
                <a:gd name="adj" fmla="val 28571"/>
              </a:avLst>
            </a:prstGeom>
            <a:solidFill>
              <a:srgbClr val="6EEAD6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73BDA11-9D0F-166F-FB6E-AF271B28BC65}"/>
                </a:ext>
              </a:extLst>
            </p:cNvPr>
            <p:cNvGrpSpPr/>
            <p:nvPr/>
          </p:nvGrpSpPr>
          <p:grpSpPr>
            <a:xfrm>
              <a:off x="496334" y="2995322"/>
              <a:ext cx="10780351" cy="1043985"/>
              <a:chOff x="248103" y="2775009"/>
              <a:chExt cx="7898358" cy="1043985"/>
            </a:xfrm>
            <a:grpFill/>
          </p:grpSpPr>
          <p:sp>
            <p:nvSpPr>
              <p:cNvPr id="31" name="Shape 0">
                <a:extLst>
                  <a:ext uri="{FF2B5EF4-FFF2-40B4-BE49-F238E27FC236}">
                    <a16:creationId xmlns:a16="http://schemas.microsoft.com/office/drawing/2014/main" id="{8BEFF57A-29FC-C5DB-046E-DA3D5208953E}"/>
                  </a:ext>
                </a:extLst>
              </p:cNvPr>
              <p:cNvSpPr/>
              <p:nvPr/>
            </p:nvSpPr>
            <p:spPr>
              <a:xfrm>
                <a:off x="248103" y="2775009"/>
                <a:ext cx="7898358" cy="1043985"/>
              </a:xfrm>
              <a:prstGeom prst="roundRect">
                <a:avLst>
                  <a:gd name="adj" fmla="val 28571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3A4A5C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WALKING AREA 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0B8EC85-6079-ECF8-F307-988A1F0D45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1428" y="3007349"/>
                <a:ext cx="5119919" cy="0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967C27F-C8DF-F153-446A-3D20431D31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1428" y="3583276"/>
                <a:ext cx="5119919" cy="0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00A4505-BDCE-7A70-253C-F7EF5FDF33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132" y="3281266"/>
                <a:ext cx="2526418" cy="0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06E9D636-69BE-346A-72FA-AAE810EFCF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8252" y="3267219"/>
                <a:ext cx="2526418" cy="0"/>
              </a:xfrm>
              <a:prstGeom prst="straightConnector1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Shape 0">
              <a:extLst>
                <a:ext uri="{FF2B5EF4-FFF2-40B4-BE49-F238E27FC236}">
                  <a16:creationId xmlns:a16="http://schemas.microsoft.com/office/drawing/2014/main" id="{60D40050-A87F-0B0D-FA38-1AD5B8E44AB8}"/>
                </a:ext>
              </a:extLst>
            </p:cNvPr>
            <p:cNvSpPr/>
            <p:nvPr/>
          </p:nvSpPr>
          <p:spPr>
            <a:xfrm>
              <a:off x="9791890" y="207318"/>
              <a:ext cx="1369638" cy="2736456"/>
            </a:xfrm>
            <a:prstGeom prst="roundRect">
              <a:avLst>
                <a:gd name="adj" fmla="val 28571"/>
              </a:avLst>
            </a:prstGeom>
            <a:solidFill>
              <a:srgbClr val="C9DDF2"/>
            </a:solidFill>
            <a:ln w="12700">
              <a:solidFill>
                <a:srgbClr val="3A4A5C"/>
              </a:solidFill>
              <a:prstDash val="solid"/>
            </a:ln>
          </p:spPr>
          <p:txBody>
            <a:bodyPr/>
            <a:lstStyle/>
            <a:p>
              <a:pPr algn="ctr"/>
              <a:b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b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b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48">
              <a:extLst>
                <a:ext uri="{FF2B5EF4-FFF2-40B4-BE49-F238E27FC236}">
                  <a16:creationId xmlns:a16="http://schemas.microsoft.com/office/drawing/2014/main" id="{DEECCF74-8D2E-A7C9-AA8A-AB7CFBE08E1E}"/>
                </a:ext>
              </a:extLst>
            </p:cNvPr>
            <p:cNvSpPr/>
            <p:nvPr/>
          </p:nvSpPr>
          <p:spPr>
            <a:xfrm>
              <a:off x="6681136" y="439503"/>
              <a:ext cx="1043627" cy="2320101"/>
            </a:xfrm>
            <a:prstGeom prst="rect">
              <a:avLst/>
            </a:prstGeom>
            <a:solidFill>
              <a:srgbClr val="C9DDF2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PC 200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54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24" name="Text 48">
              <a:extLst>
                <a:ext uri="{FF2B5EF4-FFF2-40B4-BE49-F238E27FC236}">
                  <a16:creationId xmlns:a16="http://schemas.microsoft.com/office/drawing/2014/main" id="{F11AECF8-7E1B-4B34-E21E-A4B608A4E833}"/>
                </a:ext>
              </a:extLst>
            </p:cNvPr>
            <p:cNvSpPr/>
            <p:nvPr/>
          </p:nvSpPr>
          <p:spPr>
            <a:xfrm>
              <a:off x="9889134" y="439504"/>
              <a:ext cx="1191356" cy="2222701"/>
            </a:xfrm>
            <a:prstGeom prst="rect">
              <a:avLst/>
            </a:prstGeom>
            <a:solidFill>
              <a:srgbClr val="C9DDF2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TRIBLADE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15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25" name="Text 48">
              <a:extLst>
                <a:ext uri="{FF2B5EF4-FFF2-40B4-BE49-F238E27FC236}">
                  <a16:creationId xmlns:a16="http://schemas.microsoft.com/office/drawing/2014/main" id="{796A5D5D-1C05-6915-0A58-A3ACBBC42712}"/>
                </a:ext>
              </a:extLst>
            </p:cNvPr>
            <p:cNvSpPr/>
            <p:nvPr/>
          </p:nvSpPr>
          <p:spPr>
            <a:xfrm>
              <a:off x="8375884" y="384961"/>
              <a:ext cx="1191356" cy="2222699"/>
            </a:xfrm>
            <a:prstGeom prst="rect">
              <a:avLst/>
            </a:prstGeom>
            <a:solidFill>
              <a:srgbClr val="C9DDF2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BMS20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60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26" name="Text 48">
              <a:extLst>
                <a:ext uri="{FF2B5EF4-FFF2-40B4-BE49-F238E27FC236}">
                  <a16:creationId xmlns:a16="http://schemas.microsoft.com/office/drawing/2014/main" id="{AF824068-3349-8865-0890-01BE48E4EF5B}"/>
                </a:ext>
              </a:extLst>
            </p:cNvPr>
            <p:cNvSpPr/>
            <p:nvPr/>
          </p:nvSpPr>
          <p:spPr>
            <a:xfrm>
              <a:off x="10343072" y="4753158"/>
              <a:ext cx="792577" cy="193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OLD 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Assets: 4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27" name="Text 48">
              <a:extLst>
                <a:ext uri="{FF2B5EF4-FFF2-40B4-BE49-F238E27FC236}">
                  <a16:creationId xmlns:a16="http://schemas.microsoft.com/office/drawing/2014/main" id="{B72F07D0-CA76-0714-6C22-4D5D2C6B5959}"/>
                </a:ext>
              </a:extLst>
            </p:cNvPr>
            <p:cNvSpPr/>
            <p:nvPr/>
          </p:nvSpPr>
          <p:spPr>
            <a:xfrm>
              <a:off x="9307900" y="4748679"/>
              <a:ext cx="909592" cy="193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TRI</a:t>
              </a:r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BLADE </a:t>
              </a:r>
              <a:endParaRPr lang="en-US" sz="150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</a:t>
              </a:r>
              <a:b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Assets: 4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28" name="Text 48">
              <a:extLst>
                <a:ext uri="{FF2B5EF4-FFF2-40B4-BE49-F238E27FC236}">
                  <a16:creationId xmlns:a16="http://schemas.microsoft.com/office/drawing/2014/main" id="{03C2BF11-C666-9655-A2AB-5493EAFA077A}"/>
                </a:ext>
              </a:extLst>
            </p:cNvPr>
            <p:cNvSpPr/>
            <p:nvPr/>
          </p:nvSpPr>
          <p:spPr>
            <a:xfrm>
              <a:off x="8189359" y="4696355"/>
              <a:ext cx="1018701" cy="193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ENTERGY </a:t>
              </a:r>
              <a:endParaRPr lang="en-US" sz="125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</a:t>
              </a:r>
              <a:b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Assets: 22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29" name="Text 48">
              <a:extLst>
                <a:ext uri="{FF2B5EF4-FFF2-40B4-BE49-F238E27FC236}">
                  <a16:creationId xmlns:a16="http://schemas.microsoft.com/office/drawing/2014/main" id="{46312E05-94AC-2B5A-32CF-BA0A3D470613}"/>
                </a:ext>
              </a:extLst>
            </p:cNvPr>
            <p:cNvSpPr/>
            <p:nvPr/>
          </p:nvSpPr>
          <p:spPr>
            <a:xfrm>
              <a:off x="7230431" y="4511450"/>
              <a:ext cx="1018701" cy="193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OLD </a:t>
              </a:r>
              <a:endParaRPr lang="en-US" sz="125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</a:t>
              </a:r>
              <a:b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Assets: 12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  <p:sp>
          <p:nvSpPr>
            <p:cNvPr id="30" name="Text 48">
              <a:extLst>
                <a:ext uri="{FF2B5EF4-FFF2-40B4-BE49-F238E27FC236}">
                  <a16:creationId xmlns:a16="http://schemas.microsoft.com/office/drawing/2014/main" id="{D1912292-A8A7-9052-1824-B2234961FCEB}"/>
                </a:ext>
              </a:extLst>
            </p:cNvPr>
            <p:cNvSpPr/>
            <p:nvPr/>
          </p:nvSpPr>
          <p:spPr>
            <a:xfrm>
              <a:off x="6331416" y="4741485"/>
              <a:ext cx="1018701" cy="19336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RSHG</a:t>
              </a:r>
              <a:endParaRPr lang="en-US" sz="1250" dirty="0"/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-Fixed </a:t>
              </a:r>
              <a:b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Assets: 16</a:t>
              </a:r>
            </a:p>
            <a:p>
              <a:pPr algn="ctr">
                <a:buSzPct val="100000"/>
              </a:pPr>
              <a:r>
                <a:rPr lang="en-US" sz="1000" dirty="0">
                  <a:solidFill>
                    <a:srgbClr val="1F2A37"/>
                  </a:solidFill>
                  <a:latin typeface="Arial" pitchFamily="34" charset="0"/>
                  <a:cs typeface="Arial" pitchFamily="34" charset="-120"/>
                </a:rPr>
                <a:t>Identified: 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6591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FA1F1-8685-8D1D-D4F5-13DFB5AC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Level of Assets </a:t>
            </a:r>
            <a:br>
              <a:rPr lang="en-US" dirty="0"/>
            </a:br>
            <a:r>
              <a:rPr lang="en-US" dirty="0"/>
              <a:t>Matching 100% of the Fixed Asset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00B2-DBD9-C099-2660-36157F086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68760"/>
            <a:ext cx="10668000" cy="4680520"/>
          </a:xfrm>
        </p:spPr>
        <p:txBody>
          <a:bodyPr/>
          <a:lstStyle/>
          <a:p>
            <a:r>
              <a:rPr lang="en-US" sz="2000" dirty="0"/>
              <a:t>Plant 1</a:t>
            </a:r>
          </a:p>
          <a:p>
            <a:pPr lvl="1"/>
            <a:r>
              <a:rPr lang="en-US" sz="1600" dirty="0"/>
              <a:t>Fixed Assets: 308 		- Identified: 45		</a:t>
            </a:r>
            <a:r>
              <a:rPr lang="en-US" sz="1600" b="1" dirty="0">
                <a:solidFill>
                  <a:srgbClr val="FD7726"/>
                </a:solidFill>
              </a:rPr>
              <a:t>- 15.50%</a:t>
            </a:r>
            <a:endParaRPr lang="en-US" sz="1600" dirty="0"/>
          </a:p>
          <a:p>
            <a:r>
              <a:rPr lang="en-US" sz="2000" dirty="0"/>
              <a:t>Plant 2 – ESD</a:t>
            </a:r>
          </a:p>
          <a:p>
            <a:pPr lvl="1"/>
            <a:r>
              <a:rPr lang="en-US" sz="1600" dirty="0"/>
              <a:t>Fixed Assets: 336 		- Identified: 61		</a:t>
            </a:r>
            <a:r>
              <a:rPr lang="en-US" sz="1600" b="1" dirty="0">
                <a:solidFill>
                  <a:srgbClr val="FD7726"/>
                </a:solidFill>
              </a:rPr>
              <a:t>- 18.15%</a:t>
            </a:r>
            <a:endParaRPr lang="en-US" sz="1600" dirty="0"/>
          </a:p>
          <a:p>
            <a:r>
              <a:rPr lang="en-US" sz="2000" dirty="0"/>
              <a:t>Plant 2 – Injection</a:t>
            </a:r>
          </a:p>
          <a:p>
            <a:pPr lvl="1"/>
            <a:r>
              <a:rPr lang="en-US" sz="1600" dirty="0"/>
              <a:t>Fixed Assets: 406 		- Identified: 27		</a:t>
            </a:r>
            <a:r>
              <a:rPr lang="en-US" sz="1600" b="1" dirty="0">
                <a:solidFill>
                  <a:srgbClr val="FD7726"/>
                </a:solidFill>
              </a:rPr>
              <a:t>- 6.60%</a:t>
            </a:r>
            <a:endParaRPr lang="en-US" sz="1600" dirty="0"/>
          </a:p>
          <a:p>
            <a:r>
              <a:rPr lang="en-US" sz="2000" dirty="0"/>
              <a:t>Plant 2 second floor</a:t>
            </a:r>
          </a:p>
          <a:p>
            <a:pPr lvl="1"/>
            <a:r>
              <a:rPr lang="en-US" sz="1600" dirty="0"/>
              <a:t>Fixed Assets: 128 		- Identified: 59		</a:t>
            </a:r>
            <a:r>
              <a:rPr lang="en-US" sz="1600" b="1" dirty="0">
                <a:solidFill>
                  <a:srgbClr val="FD7726"/>
                </a:solidFill>
              </a:rPr>
              <a:t>- 46.00%</a:t>
            </a:r>
            <a:endParaRPr lang="en-US" sz="1600" dirty="0"/>
          </a:p>
          <a:p>
            <a:r>
              <a:rPr lang="en-US" sz="2000" dirty="0"/>
              <a:t>Plant 2 – Expansion</a:t>
            </a:r>
          </a:p>
          <a:p>
            <a:pPr lvl="1"/>
            <a:r>
              <a:rPr lang="en-US" sz="1600" dirty="0"/>
              <a:t>Fixed Assets: 167 		- Identified: 22		</a:t>
            </a:r>
            <a:r>
              <a:rPr lang="en-US" sz="1600" b="1" dirty="0">
                <a:solidFill>
                  <a:srgbClr val="FD7726"/>
                </a:solidFill>
              </a:rPr>
              <a:t>- 13.17%</a:t>
            </a:r>
            <a:endParaRPr lang="en-US" sz="1600" dirty="0"/>
          </a:p>
          <a:p>
            <a:r>
              <a:rPr lang="en-US" sz="2000" dirty="0"/>
              <a:t>Plant 2 – Expansion second floor</a:t>
            </a:r>
          </a:p>
          <a:p>
            <a:pPr lvl="1"/>
            <a:r>
              <a:rPr lang="en-US" sz="1600" dirty="0"/>
              <a:t>Fixed Assets: 166 		- Identified: 80		</a:t>
            </a:r>
            <a:r>
              <a:rPr lang="en-US" sz="1600" b="1" dirty="0">
                <a:solidFill>
                  <a:srgbClr val="FD7726"/>
                </a:solidFill>
              </a:rPr>
              <a:t>- 48.19%</a:t>
            </a:r>
            <a:endParaRPr lang="en-US" sz="1600" dirty="0"/>
          </a:p>
          <a:p>
            <a:r>
              <a:rPr lang="en-US" sz="2000" dirty="0"/>
              <a:t> Temporary Warehouse</a:t>
            </a:r>
          </a:p>
          <a:p>
            <a:pPr lvl="1"/>
            <a:r>
              <a:rPr lang="en-US" sz="1600" dirty="0"/>
              <a:t>Fixed Assets: 188 		- Identified: 0		</a:t>
            </a:r>
            <a:r>
              <a:rPr lang="en-US" sz="1600" b="1" dirty="0">
                <a:solidFill>
                  <a:srgbClr val="FD7726"/>
                </a:solidFill>
              </a:rPr>
              <a:t>- 0.00%</a:t>
            </a:r>
            <a:r>
              <a:rPr lang="en-US" sz="1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5716484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9860</TotalTime>
  <Words>1000</Words>
  <Application>Microsoft Office PowerPoint</Application>
  <PresentationFormat>Widescreen</PresentationFormat>
  <Paragraphs>232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PMingLiU</vt:lpstr>
      <vt:lpstr>Arial</vt:lpstr>
      <vt:lpstr>Helvetica</vt:lpstr>
      <vt:lpstr>Times</vt:lpstr>
      <vt:lpstr>Wingdings</vt:lpstr>
      <vt:lpstr>Blank</vt:lpstr>
      <vt:lpstr>Fixed Assets @ Zacatecas</vt:lpstr>
      <vt:lpstr>Vision – Fixed Asset Reconciliation Process</vt:lpstr>
      <vt:lpstr>PLANT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Identification Level of Assets  Matching 100% of the Fixed Asset Policy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Isela</dc:creator>
  <cp:lastModifiedBy>Brian Smith</cp:lastModifiedBy>
  <cp:revision>203</cp:revision>
  <dcterms:created xsi:type="dcterms:W3CDTF">2005-05-03T04:22:27Z</dcterms:created>
  <dcterms:modified xsi:type="dcterms:W3CDTF">2026-08-07T22:11:59Z</dcterms:modified>
</cp:coreProperties>
</file>