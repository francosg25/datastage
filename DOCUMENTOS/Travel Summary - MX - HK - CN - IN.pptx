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7874" r:id="rId6"/>
    <p:sldId id="2147375281" r:id="rId7"/>
    <p:sldId id="2147375282" r:id="rId8"/>
    <p:sldId id="2147375283" r:id="rId9"/>
    <p:sldId id="299" r:id="rId10"/>
    <p:sldId id="7875" r:id="rId11"/>
    <p:sldId id="2147375280" r:id="rId12"/>
    <p:sldId id="7876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346">
          <p15:clr>
            <a:srgbClr val="A4A3A4"/>
          </p15:clr>
        </p15:guide>
        <p15:guide id="4" orient="horz" pos="8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E7E2D9"/>
    <a:srgbClr val="D4BCAB"/>
    <a:srgbClr val="F2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F77816-21FC-49E8-BB0C-EA02DE044DC6}" v="1" dt="2026-08-12T18:33:38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88" y="138"/>
      </p:cViewPr>
      <p:guideLst>
        <p:guide orient="horz" pos="1620"/>
        <p:guide pos="2880"/>
        <p:guide orient="horz" pos="2346"/>
        <p:guide orient="horz" pos="80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Smith" userId="faffdf05-ed29-479e-a679-e20db7868ff2" providerId="ADAL" clId="{0C653328-DA99-4355-947F-45BC25DB8254}"/>
    <pc:docChg chg="custSel modSld">
      <pc:chgData name="Brian Smith" userId="faffdf05-ed29-479e-a679-e20db7868ff2" providerId="ADAL" clId="{0C653328-DA99-4355-947F-45BC25DB8254}" dt="2026-08-12T18:44:13.601" v="263" actId="20577"/>
      <pc:docMkLst>
        <pc:docMk/>
      </pc:docMkLst>
      <pc:sldChg chg="modSp mod">
        <pc:chgData name="Brian Smith" userId="faffdf05-ed29-479e-a679-e20db7868ff2" providerId="ADAL" clId="{0C653328-DA99-4355-947F-45BC25DB8254}" dt="2026-08-12T18:33:38.727" v="2" actId="27636"/>
        <pc:sldMkLst>
          <pc:docMk/>
          <pc:sldMk cId="2187103170" sldId="7874"/>
        </pc:sldMkLst>
        <pc:spChg chg="mod">
          <ac:chgData name="Brian Smith" userId="faffdf05-ed29-479e-a679-e20db7868ff2" providerId="ADAL" clId="{0C653328-DA99-4355-947F-45BC25DB8254}" dt="2026-08-12T18:33:38.727" v="2" actId="27636"/>
          <ac:spMkLst>
            <pc:docMk/>
            <pc:sldMk cId="2187103170" sldId="7874"/>
            <ac:spMk id="5" creationId="{726D2498-6CC3-5787-0EBA-1A6723A45909}"/>
          </ac:spMkLst>
        </pc:spChg>
      </pc:sldChg>
      <pc:sldChg chg="modSp mod">
        <pc:chgData name="Brian Smith" userId="faffdf05-ed29-479e-a679-e20db7868ff2" providerId="ADAL" clId="{0C653328-DA99-4355-947F-45BC25DB8254}" dt="2026-08-12T18:44:13.601" v="263" actId="20577"/>
        <pc:sldMkLst>
          <pc:docMk/>
          <pc:sldMk cId="1022825823" sldId="2147375281"/>
        </pc:sldMkLst>
        <pc:spChg chg="mod">
          <ac:chgData name="Brian Smith" userId="faffdf05-ed29-479e-a679-e20db7868ff2" providerId="ADAL" clId="{0C653328-DA99-4355-947F-45BC25DB8254}" dt="2026-08-12T18:44:13.601" v="263" actId="20577"/>
          <ac:spMkLst>
            <pc:docMk/>
            <pc:sldMk cId="1022825823" sldId="2147375281"/>
            <ac:spMk id="2" creationId="{C024B0B0-7962-D744-5EE6-B285EB73F49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08A55D-2C79-4FA8-B444-493AAE8C25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C850C-D734-4E32-8A26-6A7521F8E1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55764-E986-4DC6-9FBA-4CCB61C0792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4F961-91BF-449A-97F3-59C9FE1C81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791B2-0493-427B-8DC8-FB9C7594F7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70380-5941-4929-BF41-5A94450E8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214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0F35E-6892-45E2-A9BF-7B3791B6DD01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9D07F-7679-4BA1-95B3-4F96AC5DC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8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a master template for global use, which is suitable for both internal or external use.</a:t>
            </a:r>
          </a:p>
          <a:p>
            <a:r>
              <a:rPr lang="en-US" altLang="zh-CN"/>
              <a:t>The order of the slide could be adjusted or deleted or added based on actual needs. </a:t>
            </a:r>
          </a:p>
          <a:p>
            <a:r>
              <a:rPr lang="en-US" altLang="zh-CN"/>
              <a:t>The text space and font size could be adjusted based on actual needs.</a:t>
            </a:r>
          </a:p>
          <a:p>
            <a:r>
              <a:rPr lang="en-US" altLang="zh-CN"/>
              <a:t>When working on each slide, please ensure the logo, page number and footnote are visible; the Title should be in Bold instead of Italics or underlined.</a:t>
            </a:r>
          </a:p>
          <a:p>
            <a:r>
              <a:rPr lang="en-US" altLang="zh-CN"/>
              <a:t>For external presentation, please remove the term “confidential”.</a:t>
            </a:r>
          </a:p>
          <a:p>
            <a:r>
              <a:rPr lang="en-US" altLang="zh-CN"/>
              <a:t>This template aims to provide the space, flexibility for all users to cater to different scenarios.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6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C9AD-766D-1C4D-126A-5E2C592F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C2272-075B-7911-F045-BE3A29B8B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62F74-FD95-358B-0F59-971441363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a master template for global use, which is suitable for both internal or external use.</a:t>
            </a:r>
          </a:p>
          <a:p>
            <a:r>
              <a:rPr lang="en-US" altLang="zh-CN"/>
              <a:t>The order of the slide could be adjusted or deleted or added based on actual needs. </a:t>
            </a:r>
          </a:p>
          <a:p>
            <a:r>
              <a:rPr lang="en-US" altLang="zh-CN"/>
              <a:t>The text space and font size could be adjusted based on actual needs.</a:t>
            </a:r>
          </a:p>
          <a:p>
            <a:r>
              <a:rPr lang="en-US" altLang="zh-CN"/>
              <a:t>When working on each slide, please ensure the logo, page number and footnote are visible; the Title should be in Bold instead of Italics or underlined.</a:t>
            </a:r>
          </a:p>
          <a:p>
            <a:r>
              <a:rPr lang="en-US" altLang="zh-CN"/>
              <a:t>For external presentation, please remove the term “confidential”.</a:t>
            </a:r>
          </a:p>
          <a:p>
            <a:r>
              <a:rPr lang="en-US" altLang="zh-CN"/>
              <a:t>This template aims to provide the space, flexibility for all users to cater to different scenarios.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0BF06-AD99-05A1-636D-1C029C7C4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67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5B897-BC5C-DAE0-D1BE-222F2718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78573-2EE3-046D-89C8-E24E1FDF3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EE282-4990-4AC1-222B-D77A1F057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a master template for global use, which is suitable for both internal or external use.</a:t>
            </a:r>
          </a:p>
          <a:p>
            <a:r>
              <a:rPr lang="en-US" altLang="zh-CN"/>
              <a:t>The order of the slide could be adjusted or deleted or added based on actual needs. </a:t>
            </a:r>
          </a:p>
          <a:p>
            <a:r>
              <a:rPr lang="en-US" altLang="zh-CN"/>
              <a:t>The text space and font size could be adjusted based on actual needs.</a:t>
            </a:r>
          </a:p>
          <a:p>
            <a:r>
              <a:rPr lang="en-US" altLang="zh-CN"/>
              <a:t>When working on each slide, please ensure the logo, page number and footnote are visible; the Title should be in Bold instead of Italics or underlined.</a:t>
            </a:r>
          </a:p>
          <a:p>
            <a:r>
              <a:rPr lang="en-US" altLang="zh-CN"/>
              <a:t>For external presentation, please remove the term “confidential”.</a:t>
            </a:r>
          </a:p>
          <a:p>
            <a:r>
              <a:rPr lang="en-US" altLang="zh-CN"/>
              <a:t>This template aims to provide the space, flexibility for all users to cater to different scenarios.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F55C5-5054-85ED-18D6-407A97C81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13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66EB2-B7F0-3BE1-FCE6-72AC5B2F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5358-CA63-FF85-4CDD-F00C957E6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00296-0E7A-4B04-E363-FC7F65288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a master template for global use, which is suitable for both internal or external use.</a:t>
            </a:r>
          </a:p>
          <a:p>
            <a:r>
              <a:rPr lang="en-US" altLang="zh-CN"/>
              <a:t>The order of the slide could be adjusted or deleted or added based on actual needs. </a:t>
            </a:r>
          </a:p>
          <a:p>
            <a:r>
              <a:rPr lang="en-US" altLang="zh-CN"/>
              <a:t>The text space and font size could be adjusted based on actual needs.</a:t>
            </a:r>
          </a:p>
          <a:p>
            <a:r>
              <a:rPr lang="en-US" altLang="zh-CN"/>
              <a:t>When working on each slide, please ensure the logo, page number and footnote are visible; the Title should be in Bold instead of Italics or underlined.</a:t>
            </a:r>
          </a:p>
          <a:p>
            <a:r>
              <a:rPr lang="en-US" altLang="zh-CN"/>
              <a:t>For external presentation, please remove the term “confidential”.</a:t>
            </a:r>
          </a:p>
          <a:p>
            <a:r>
              <a:rPr lang="en-US" altLang="zh-CN"/>
              <a:t>This template aims to provide the space, flexibility for all users to cater to different scenarios.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8E4EA-BE96-F24C-1DC7-A41558BAB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395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373A-3E2A-FF77-D4D0-A73AF3D3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00816-03EB-6BA9-7491-B04F36D3A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57F29-C924-AC24-B809-077DBB94D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17E1B-FEDF-F0C6-0C6E-36D7BC032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F10D40-27B5-4AA0-BC1C-E41514B126CC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34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9502"/>
            <a:ext cx="5976664" cy="774836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4338"/>
            <a:ext cx="5976664" cy="13144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4" y="-13113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4682"/>
            <a:ext cx="2651065" cy="11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3291830"/>
            <a:ext cx="2881313" cy="7207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">
    <p:bg>
      <p:bgPr>
        <a:solidFill>
          <a:srgbClr val="E7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9502"/>
            <a:ext cx="5976664" cy="774836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4338"/>
            <a:ext cx="5976664" cy="13144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4" y="-13113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3291830"/>
            <a:ext cx="2881313" cy="7207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pic>
        <p:nvPicPr>
          <p:cNvPr id="10" name="Picture 4" descr="D:\other\PPT\4\logo.jpg">
            <a:extLst>
              <a:ext uri="{FF2B5EF4-FFF2-40B4-BE49-F238E27FC236}">
                <a16:creationId xmlns:a16="http://schemas.microsoft.com/office/drawing/2014/main" id="{75331671-BF85-45A3-8E08-D2BB230D48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1011"/>
            <a:ext cx="2651064" cy="118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36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D:\other\PPT\Patterns JE_RGB-Corporate.png">
            <a:extLst>
              <a:ext uri="{FF2B5EF4-FFF2-40B4-BE49-F238E27FC236}">
                <a16:creationId xmlns:a16="http://schemas.microsoft.com/office/drawing/2014/main" id="{D71DCEF3-DB3F-4A31-9AC7-11FCAA0CA6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485613" y="-13113"/>
            <a:ext cx="2658386" cy="467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67544" y="422897"/>
            <a:ext cx="3672408" cy="359792"/>
          </a:xfr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20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Chapter</a:t>
            </a:r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2771799" y="2283470"/>
            <a:ext cx="3672408" cy="3597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2771800" y="3003798"/>
            <a:ext cx="3672408" cy="3597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2771800" y="1995438"/>
            <a:ext cx="618783" cy="24351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Title</a:t>
            </a:r>
            <a:endParaRPr lang="zh-CN" altLang="en-US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2771800" y="2715518"/>
            <a:ext cx="618783" cy="24351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Title</a:t>
            </a:r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15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rec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930819" y="3147318"/>
            <a:ext cx="1727100" cy="216520"/>
          </a:xfrm>
          <a:prstGeom prst="roundRect">
            <a:avLst>
              <a:gd name="adj" fmla="val 50000"/>
            </a:avLst>
          </a:prstGeom>
          <a:noFill/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j-lt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da-DK" altLang="zh-CN"/>
              <a:t>Lorem ipsum dolor</a:t>
            </a:r>
            <a:endParaRPr lang="zh-CN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25" name="文本占位符 10"/>
          <p:cNvSpPr>
            <a:spLocks noGrp="1"/>
          </p:cNvSpPr>
          <p:nvPr>
            <p:ph type="body" sz="quarter" idx="24" hasCustomPrompt="1"/>
          </p:nvPr>
        </p:nvSpPr>
        <p:spPr>
          <a:xfrm>
            <a:off x="3708449" y="3147317"/>
            <a:ext cx="1727100" cy="216520"/>
          </a:xfrm>
          <a:prstGeom prst="roundRect">
            <a:avLst>
              <a:gd name="adj" fmla="val 50000"/>
            </a:avLst>
          </a:prstGeom>
          <a:noFill/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j-lt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da-DK" altLang="zh-CN"/>
              <a:t>Lorem ipsum dolor</a:t>
            </a:r>
            <a:endParaRPr lang="zh-CN" altLang="en-US"/>
          </a:p>
        </p:txBody>
      </p:sp>
      <p:sp>
        <p:nvSpPr>
          <p:cNvPr id="30" name="文本占位符 10"/>
          <p:cNvSpPr>
            <a:spLocks noGrp="1"/>
          </p:cNvSpPr>
          <p:nvPr>
            <p:ph type="body" sz="quarter" idx="27" hasCustomPrompt="1"/>
          </p:nvPr>
        </p:nvSpPr>
        <p:spPr>
          <a:xfrm>
            <a:off x="6470841" y="3147317"/>
            <a:ext cx="1727100" cy="216520"/>
          </a:xfrm>
          <a:prstGeom prst="roundRect">
            <a:avLst>
              <a:gd name="adj" fmla="val 50000"/>
            </a:avLst>
          </a:prstGeom>
          <a:noFill/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j-lt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da-DK" altLang="zh-CN"/>
              <a:t>Lorem ipsum dolor</a:t>
            </a:r>
            <a:endParaRPr lang="zh-CN" altLang="en-US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827584" y="2657779"/>
            <a:ext cx="1933570" cy="369748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2000" b="1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29" hasCustomPrompt="1"/>
          </p:nvPr>
        </p:nvSpPr>
        <p:spPr>
          <a:xfrm>
            <a:off x="3605214" y="2657779"/>
            <a:ext cx="1933570" cy="369748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2000" b="1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30" hasCustomPrompt="1"/>
          </p:nvPr>
        </p:nvSpPr>
        <p:spPr>
          <a:xfrm>
            <a:off x="6367606" y="2657779"/>
            <a:ext cx="1933570" cy="369748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2000" b="1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3635896" y="843558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0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475656" y="2211710"/>
            <a:ext cx="570324" cy="329199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5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283968" y="2211710"/>
            <a:ext cx="573193" cy="31405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37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7049229" y="2185691"/>
            <a:ext cx="570324" cy="329199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93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420718" y="483518"/>
            <a:ext cx="2639114" cy="360040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lang="zh-CN" altLang="en-US" dirty="0"/>
            </a:lvl1pPr>
          </a:lstStyle>
          <a:p>
            <a:pPr lvl="0"/>
            <a:r>
              <a:rPr lang="en-US" altLang="zh-CN"/>
              <a:t>Chapter Title</a:t>
            </a:r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411982" y="1451372"/>
            <a:ext cx="8317432" cy="25922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29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D:\other\PPT\Patterns JE_RGB-Corporate.png">
            <a:extLst>
              <a:ext uri="{FF2B5EF4-FFF2-40B4-BE49-F238E27FC236}">
                <a16:creationId xmlns:a16="http://schemas.microsoft.com/office/drawing/2014/main" id="{AE73CCAA-C9C3-44FF-B527-D60C5CD11E1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485613" y="-13113"/>
            <a:ext cx="2658386" cy="467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2156280" y="1779662"/>
            <a:ext cx="3423832" cy="37930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156007" y="2158966"/>
            <a:ext cx="4504225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j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43608" y="1756246"/>
            <a:ext cx="864096" cy="39811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32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83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504" y="1275606"/>
            <a:ext cx="3960118" cy="30956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3000" marR="0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/>
              <a:t>Bulletpoint_1</a:t>
            </a:r>
            <a:endParaRPr lang="zh-CN" altLang="en-US"/>
          </a:p>
          <a:p>
            <a:pPr lvl="1"/>
            <a:r>
              <a:rPr lang="en-US" altLang="zh-CN"/>
              <a:t>Subbulletpoint_1_1</a:t>
            </a:r>
            <a:endParaRPr lang="zh-CN" altLang="en-US"/>
          </a:p>
          <a:p>
            <a:pPr lvl="2"/>
            <a:r>
              <a:rPr lang="en-US" altLang="zh-CN"/>
              <a:t>Subbulletpoint_1_1_1</a:t>
            </a:r>
          </a:p>
          <a:p>
            <a:pPr marL="1143000" marR="0" lvl="2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Subbulletpoint_1_1_2</a:t>
            </a:r>
          </a:p>
          <a:p>
            <a:pPr lvl="1"/>
            <a:r>
              <a:rPr lang="en-US" altLang="zh-CN"/>
              <a:t>Subbulletpoint_1_2</a:t>
            </a:r>
            <a:endParaRPr lang="zh-CN" altLang="en-US"/>
          </a:p>
          <a:p>
            <a:pPr lvl="2"/>
            <a:r>
              <a:rPr lang="en-US" altLang="zh-CN"/>
              <a:t>Subbulletpoint_1_2_1</a:t>
            </a:r>
          </a:p>
          <a:p>
            <a:pPr marL="1143000" marR="0" lvl="2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Subbulletpoint_1_2_2</a:t>
            </a:r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4716016" y="1275606"/>
            <a:ext cx="4067944" cy="3096344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文本占位符 7">
            <a:extLst>
              <a:ext uri="{FF2B5EF4-FFF2-40B4-BE49-F238E27FC236}">
                <a16:creationId xmlns:a16="http://schemas.microsoft.com/office/drawing/2014/main" id="{C87528CF-A4D0-4E14-A379-E49689DA5C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223492" y="309843"/>
            <a:ext cx="4824908" cy="432271"/>
          </a:xfrm>
        </p:spPr>
        <p:txBody>
          <a:bodyPr>
            <a:normAutofit/>
          </a:bodyPr>
          <a:lstStyle>
            <a:lvl1pPr marL="162900" indent="0">
              <a:lnSpc>
                <a:spcPct val="100000"/>
              </a:lnSpc>
              <a:buNone/>
              <a:defRPr sz="2000" b="1">
                <a:latin typeface="+mj-lt"/>
                <a:cs typeface="Arial" panose="020B06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79512" y="1275606"/>
            <a:ext cx="3960118" cy="30956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3000" marR="0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/>
              <a:t>Bulletpoint_1</a:t>
            </a:r>
            <a:endParaRPr lang="zh-CN" altLang="en-US"/>
          </a:p>
          <a:p>
            <a:pPr lvl="1"/>
            <a:r>
              <a:rPr lang="en-US" altLang="zh-CN"/>
              <a:t>Subbulletpoint_1_1</a:t>
            </a:r>
            <a:endParaRPr lang="zh-CN" altLang="en-US"/>
          </a:p>
          <a:p>
            <a:pPr lvl="2"/>
            <a:r>
              <a:rPr lang="en-US" altLang="zh-CN"/>
              <a:t>Subbulletpoint_1_1_1</a:t>
            </a:r>
          </a:p>
          <a:p>
            <a:pPr marL="1143000" marR="0" lvl="2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Subbulletpoint_1_1_2</a:t>
            </a:r>
          </a:p>
          <a:p>
            <a:pPr lvl="1"/>
            <a:r>
              <a:rPr lang="en-US" altLang="zh-CN"/>
              <a:t>Subbulletpoint_1_2</a:t>
            </a:r>
            <a:endParaRPr lang="zh-CN" altLang="en-US"/>
          </a:p>
          <a:p>
            <a:pPr lvl="2"/>
            <a:r>
              <a:rPr lang="en-US" altLang="zh-CN"/>
              <a:t>Subbulletpoint_1_2_1</a:t>
            </a:r>
          </a:p>
          <a:p>
            <a:pPr marL="1143000" marR="0" lvl="2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Subbulletpoint_1_2_2</a:t>
            </a:r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8" name="内容占位符 11"/>
          <p:cNvSpPr>
            <a:spLocks noGrp="1"/>
          </p:cNvSpPr>
          <p:nvPr>
            <p:ph sz="quarter" idx="12" hasCustomPrompt="1"/>
          </p:nvPr>
        </p:nvSpPr>
        <p:spPr>
          <a:xfrm>
            <a:off x="4860032" y="1275606"/>
            <a:ext cx="3960118" cy="30956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143000" marR="0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/>
              <a:t>Bulletpoint_1</a:t>
            </a:r>
            <a:endParaRPr lang="zh-CN" altLang="en-US"/>
          </a:p>
          <a:p>
            <a:pPr lvl="1"/>
            <a:r>
              <a:rPr lang="en-US" altLang="zh-CN"/>
              <a:t>Subbulletpoint_1_1</a:t>
            </a:r>
            <a:endParaRPr lang="zh-CN" altLang="en-US"/>
          </a:p>
          <a:p>
            <a:pPr lvl="2"/>
            <a:r>
              <a:rPr lang="en-US" altLang="zh-CN"/>
              <a:t>Subbulletpoint_1_1_1</a:t>
            </a:r>
          </a:p>
          <a:p>
            <a:pPr marL="1143000" marR="0" lvl="2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Subbulletpoint_1_1_2</a:t>
            </a:r>
          </a:p>
          <a:p>
            <a:pPr lvl="1"/>
            <a:r>
              <a:rPr lang="en-US" altLang="zh-CN"/>
              <a:t>Subbulletpoint_1_2</a:t>
            </a:r>
            <a:endParaRPr lang="zh-CN" altLang="en-US"/>
          </a:p>
          <a:p>
            <a:pPr lvl="2"/>
            <a:r>
              <a:rPr lang="en-US" altLang="zh-CN"/>
              <a:t>Subbulletpoint_1_2_1</a:t>
            </a:r>
          </a:p>
          <a:p>
            <a:pPr marL="1143000" marR="0" lvl="2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Subbulletpoint_1_2_2</a:t>
            </a:r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1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79512" y="987574"/>
            <a:ext cx="8784976" cy="3312642"/>
          </a:xfrm>
        </p:spPr>
        <p:txBody>
          <a:bodyPr/>
          <a:lstStyle>
            <a:lvl1pPr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3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 userDrawn="1"/>
        </p:nvSpPr>
        <p:spPr>
          <a:xfrm>
            <a:off x="395536" y="1085850"/>
            <a:ext cx="8208912" cy="3319016"/>
          </a:xfrm>
          <a:prstGeom prst="rect">
            <a:avLst/>
          </a:prstGeom>
          <a:solidFill>
            <a:srgbClr val="E7E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6">
            <a:extLst>
              <a:ext uri="{FF2B5EF4-FFF2-40B4-BE49-F238E27FC236}">
                <a16:creationId xmlns:a16="http://schemas.microsoft.com/office/drawing/2014/main" id="{57FE2129-4789-73C2-D450-240F3FE0B4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5536" y="1117104"/>
            <a:ext cx="3528392" cy="3287762"/>
          </a:xfrm>
        </p:spPr>
        <p:txBody>
          <a:bodyPr/>
          <a:lstStyle>
            <a:lvl1pPr marL="162900" indent="0">
              <a:lnSpc>
                <a:spcPct val="150000"/>
              </a:lnSpc>
              <a:buNone/>
              <a:defRPr sz="1200" b="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</a:lstStyle>
          <a:p>
            <a:pPr marL="16290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</a:t>
            </a:r>
          </a:p>
          <a:p>
            <a:pPr marL="742950" marR="0" lvl="1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marL="742950" marR="0" lvl="1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3" name="圆角矩形 12"/>
          <p:cNvSpPr/>
          <p:nvPr userDrawn="1"/>
        </p:nvSpPr>
        <p:spPr>
          <a:xfrm>
            <a:off x="3995936" y="1085850"/>
            <a:ext cx="4896544" cy="3319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5" hasCustomPrompt="1"/>
          </p:nvPr>
        </p:nvSpPr>
        <p:spPr>
          <a:xfrm>
            <a:off x="3995936" y="1059582"/>
            <a:ext cx="4896544" cy="3312368"/>
          </a:xfrm>
          <a:noFill/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7" name="文本占位符 7">
            <a:extLst>
              <a:ext uri="{FF2B5EF4-FFF2-40B4-BE49-F238E27FC236}">
                <a16:creationId xmlns:a16="http://schemas.microsoft.com/office/drawing/2014/main" id="{44254EFB-7DE1-48A5-B16F-70452EE8C1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4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 userDrawn="1"/>
        </p:nvSpPr>
        <p:spPr>
          <a:xfrm>
            <a:off x="4932040" y="1131590"/>
            <a:ext cx="3816424" cy="331901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6">
            <a:extLst>
              <a:ext uri="{FF2B5EF4-FFF2-40B4-BE49-F238E27FC236}">
                <a16:creationId xmlns:a16="http://schemas.microsoft.com/office/drawing/2014/main" id="{57FE2129-4789-73C2-D450-240F3FE0B4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932040" y="1131590"/>
            <a:ext cx="3816424" cy="3312368"/>
          </a:xfrm>
        </p:spPr>
        <p:txBody>
          <a:bodyPr/>
          <a:lstStyle>
            <a:lvl1pPr marL="162900" indent="0">
              <a:lnSpc>
                <a:spcPct val="150000"/>
              </a:lnSpc>
              <a:buNone/>
              <a:defRPr sz="1200" b="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</a:lstStyle>
          <a:p>
            <a:pPr marL="16290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</a:t>
            </a:r>
          </a:p>
          <a:p>
            <a:pPr marL="742950" marR="0" lvl="1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marL="742950" marR="0" lvl="1" indent="-1800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5" hasCustomPrompt="1"/>
          </p:nvPr>
        </p:nvSpPr>
        <p:spPr>
          <a:xfrm>
            <a:off x="323528" y="1131590"/>
            <a:ext cx="4644008" cy="3312368"/>
          </a:xfrm>
          <a:noFill/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7" name="文本占位符 7">
            <a:extLst>
              <a:ext uri="{FF2B5EF4-FFF2-40B4-BE49-F238E27FC236}">
                <a16:creationId xmlns:a16="http://schemas.microsoft.com/office/drawing/2014/main" id="{44254EFB-7DE1-48A5-B16F-70452EE8C1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8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931312" y="3075806"/>
            <a:ext cx="7241088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931312" y="3579862"/>
            <a:ext cx="724108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r>
              <a:rPr lang="en-US" altLang="zh-CN"/>
              <a:t> magna </a:t>
            </a:r>
            <a:r>
              <a:rPr lang="en-US" altLang="zh-CN" err="1"/>
              <a:t>aliqua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931311" y="1059582"/>
            <a:ext cx="7241089" cy="1944216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4" name="文本占位符 7">
            <a:extLst>
              <a:ext uri="{FF2B5EF4-FFF2-40B4-BE49-F238E27FC236}">
                <a16:creationId xmlns:a16="http://schemas.microsoft.com/office/drawing/2014/main" id="{1BB05A9A-71CE-40AF-BDA3-6055A8FDC5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62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259632" y="3003798"/>
            <a:ext cx="2560568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59632" y="3507854"/>
            <a:ext cx="256056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259632" y="1059582"/>
            <a:ext cx="2592287" cy="184294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1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5219957" y="3003798"/>
            <a:ext cx="2560568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5219957" y="3507854"/>
            <a:ext cx="256056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5220072" y="1059582"/>
            <a:ext cx="2592287" cy="184294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9" name="文本占位符 7">
            <a:extLst>
              <a:ext uri="{FF2B5EF4-FFF2-40B4-BE49-F238E27FC236}">
                <a16:creationId xmlns:a16="http://schemas.microsoft.com/office/drawing/2014/main" id="{48C8C184-8BC1-4D76-8389-2477119608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01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2915816" y="1059582"/>
            <a:ext cx="5472608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915816" y="1563638"/>
            <a:ext cx="547260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r>
              <a:rPr lang="en-US" altLang="zh-CN"/>
              <a:t> magna </a:t>
            </a:r>
            <a:r>
              <a:rPr lang="en-US" altLang="zh-CN" err="1"/>
              <a:t>aliqua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931312" y="987426"/>
            <a:ext cx="1768479" cy="1584324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1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2915816" y="2787922"/>
            <a:ext cx="5472608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2915816" y="3291978"/>
            <a:ext cx="5472608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r>
              <a:rPr lang="en-US" altLang="zh-CN"/>
              <a:t> magna </a:t>
            </a:r>
            <a:r>
              <a:rPr lang="en-US" altLang="zh-CN" err="1"/>
              <a:t>aliqua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13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931312" y="2715766"/>
            <a:ext cx="1768479" cy="1584324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9" name="文本占位符 7">
            <a:extLst>
              <a:ext uri="{FF2B5EF4-FFF2-40B4-BE49-F238E27FC236}">
                <a16:creationId xmlns:a16="http://schemas.microsoft.com/office/drawing/2014/main" id="{6EAB2BDD-79DE-4F54-B97F-D5FED978B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8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图片占位符 3"/>
          <p:cNvSpPr>
            <a:spLocks noGrp="1"/>
          </p:cNvSpPr>
          <p:nvPr>
            <p:ph type="pic" sz="quarter" idx="20" hasCustomPrompt="1"/>
          </p:nvPr>
        </p:nvSpPr>
        <p:spPr>
          <a:xfrm>
            <a:off x="3419871" y="2355726"/>
            <a:ext cx="2088233" cy="21603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683569" y="3148458"/>
            <a:ext cx="2088232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83569" y="3652514"/>
            <a:ext cx="2088232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683568" y="915566"/>
            <a:ext cx="2088233" cy="21603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23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6156176" y="3148458"/>
            <a:ext cx="2088232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6156176" y="3652514"/>
            <a:ext cx="2088232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25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6156175" y="915566"/>
            <a:ext cx="2088233" cy="21603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27" name="内容占位符 6"/>
          <p:cNvSpPr>
            <a:spLocks noGrp="1"/>
          </p:cNvSpPr>
          <p:nvPr>
            <p:ph sz="quarter" idx="18" hasCustomPrompt="1"/>
          </p:nvPr>
        </p:nvSpPr>
        <p:spPr>
          <a:xfrm>
            <a:off x="3419872" y="915714"/>
            <a:ext cx="2088232" cy="504330"/>
          </a:xfrm>
        </p:spPr>
        <p:txBody>
          <a:bodyPr/>
          <a:lstStyle>
            <a:lvl1pPr marL="0"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285750">
              <a:buFont typeface="Wingdings" pitchFamily="2" charset="2"/>
              <a:buChar char="l"/>
              <a:defRPr sz="12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28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3419872" y="1419770"/>
            <a:ext cx="2088232" cy="863600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20" name="文本占位符 7">
            <a:extLst>
              <a:ext uri="{FF2B5EF4-FFF2-40B4-BE49-F238E27FC236}">
                <a16:creationId xmlns:a16="http://schemas.microsoft.com/office/drawing/2014/main" id="{501A36D1-8107-4F74-8855-8BC026E246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0" y="404058"/>
            <a:ext cx="1127762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74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691680" y="1707894"/>
            <a:ext cx="2160240" cy="2160000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355976" y="1995934"/>
            <a:ext cx="2448272" cy="3597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4355975" y="2715766"/>
            <a:ext cx="2448273" cy="3597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355976" y="3436094"/>
            <a:ext cx="2448272" cy="3597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200" b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1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4355976" y="1707654"/>
            <a:ext cx="929180" cy="24351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Website</a:t>
            </a:r>
            <a:endParaRPr lang="zh-CN" altLang="en-US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4355976" y="2427734"/>
            <a:ext cx="737902" cy="24351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Email</a:t>
            </a:r>
            <a:endParaRPr lang="zh-CN" altLang="en-US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4355976" y="3147814"/>
            <a:ext cx="799931" cy="24351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500"/>
              </a:lnSpc>
              <a:spcBef>
                <a:spcPts val="0"/>
              </a:spcBef>
              <a:buNone/>
              <a:defRPr sz="1400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Phone</a:t>
            </a:r>
            <a:endParaRPr lang="zh-CN" altLang="en-US"/>
          </a:p>
        </p:txBody>
      </p:sp>
      <p:pic>
        <p:nvPicPr>
          <p:cNvPr id="2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3636169" y="782328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0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CONTACT US</a:t>
            </a:r>
            <a:endParaRPr lang="zh-CN" altLang="en-US"/>
          </a:p>
        </p:txBody>
      </p:sp>
      <p:pic>
        <p:nvPicPr>
          <p:cNvPr id="24" name="Picture 2" descr="D:\other\PPT\Patterns JE_RGB-Corporate.png">
            <a:extLst>
              <a:ext uri="{FF2B5EF4-FFF2-40B4-BE49-F238E27FC236}">
                <a16:creationId xmlns:a16="http://schemas.microsoft.com/office/drawing/2014/main" id="{259CDCC2-4A2E-4B99-AFCC-2B17937692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485613" y="-13113"/>
            <a:ext cx="2658386" cy="467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513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8448"/>
            <a:ext cx="5832648" cy="774836"/>
          </a:xfrm>
        </p:spPr>
        <p:txBody>
          <a:bodyPr>
            <a:noAutofit/>
          </a:bodyPr>
          <a:lstStyle>
            <a:lvl1pPr algn="l">
              <a:defRPr sz="40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/>
              <a:t>THE END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3284"/>
            <a:ext cx="5832648" cy="1314450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THANK YOU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4" y="-13113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4682"/>
            <a:ext cx="2651065" cy="11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9030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2">
    <p:bg>
      <p:bgPr>
        <a:solidFill>
          <a:srgbClr val="E7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338448"/>
            <a:ext cx="5832648" cy="774836"/>
          </a:xfrm>
        </p:spPr>
        <p:txBody>
          <a:bodyPr>
            <a:noAutofit/>
          </a:bodyPr>
          <a:lstStyle>
            <a:lvl1pPr algn="l">
              <a:defRPr sz="40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/>
              <a:t>THE END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1520" y="1113284"/>
            <a:ext cx="5832648" cy="1314450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THANK YOU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210554" y="-13113"/>
            <a:ext cx="2933445" cy="515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:\other\PPT\4\logo.jpg">
            <a:extLst>
              <a:ext uri="{FF2B5EF4-FFF2-40B4-BE49-F238E27FC236}">
                <a16:creationId xmlns:a16="http://schemas.microsoft.com/office/drawing/2014/main" id="{BABB818B-49A2-4BF7-B180-28EFD5FDDA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1011"/>
            <a:ext cx="2651064" cy="118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25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  <a:p>
            <a:pPr lvl="2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2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0" r:id="rId3"/>
    <p:sldLayoutId id="2147483678" r:id="rId4"/>
    <p:sldLayoutId id="2147483659" r:id="rId5"/>
    <p:sldLayoutId id="2147483651" r:id="rId6"/>
    <p:sldLayoutId id="2147483662" r:id="rId7"/>
    <p:sldLayoutId id="2147483677" r:id="rId8"/>
    <p:sldLayoutId id="2147483652" r:id="rId9"/>
    <p:sldLayoutId id="2147483661" r:id="rId10"/>
    <p:sldLayoutId id="2147483679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81" r:id="rId1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3429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51519" y="339502"/>
            <a:ext cx="7256185" cy="774836"/>
          </a:xfrm>
        </p:spPr>
        <p:txBody>
          <a:bodyPr/>
          <a:lstStyle/>
          <a:p>
            <a:r>
              <a:rPr lang="en-US" altLang="zh-CN" sz="4400" dirty="0"/>
              <a:t>Travel Summary</a:t>
            </a:r>
            <a:endParaRPr lang="zh-CN" altLang="en-US" sz="44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51520" y="1114338"/>
            <a:ext cx="5976664" cy="1835758"/>
          </a:xfrm>
        </p:spPr>
        <p:txBody>
          <a:bodyPr/>
          <a:lstStyle/>
          <a:p>
            <a:r>
              <a:rPr lang="en-US" altLang="zh-CN" dirty="0"/>
              <a:t>Mexico</a:t>
            </a:r>
          </a:p>
          <a:p>
            <a:r>
              <a:rPr lang="en-US" altLang="zh-CN" dirty="0"/>
              <a:t>Hong Kong &amp; China</a:t>
            </a:r>
          </a:p>
          <a:p>
            <a:r>
              <a:rPr lang="en-US" altLang="zh-CN" dirty="0"/>
              <a:t>India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August 2026</a:t>
            </a:r>
            <a:endParaRPr lang="zh-CN" altLang="en-US" dirty="0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4D21B2DE-148F-4BCA-B17C-7A2D4F0AFA93}"/>
              </a:ext>
            </a:extLst>
          </p:cNvPr>
          <p:cNvSpPr txBox="1">
            <a:spLocks/>
          </p:cNvSpPr>
          <p:nvPr/>
        </p:nvSpPr>
        <p:spPr>
          <a:xfrm>
            <a:off x="251520" y="1635646"/>
            <a:ext cx="5976664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FA44B430-CD0E-4B48-8E5D-24F3F52F91B8}"/>
              </a:ext>
            </a:extLst>
          </p:cNvPr>
          <p:cNvSpPr txBox="1">
            <a:spLocks/>
          </p:cNvSpPr>
          <p:nvPr/>
        </p:nvSpPr>
        <p:spPr>
          <a:xfrm>
            <a:off x="251520" y="3651870"/>
            <a:ext cx="1800200" cy="305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36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9CBA-E212-68C3-B3CE-C8FF8F82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B4116DA-A04C-D4BB-2167-67B401970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19" y="339502"/>
            <a:ext cx="7256185" cy="774836"/>
          </a:xfrm>
        </p:spPr>
        <p:txBody>
          <a:bodyPr/>
          <a:lstStyle/>
          <a:p>
            <a:r>
              <a:rPr lang="en-US" altLang="zh-CN" sz="4400" dirty="0"/>
              <a:t>Mexico</a:t>
            </a:r>
            <a:endParaRPr lang="zh-CN" altLang="en-US" sz="44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26D2498-6CC3-5787-0EBA-1A6723A45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Russell Bedford Mock Audit</a:t>
            </a:r>
          </a:p>
          <a:p>
            <a:r>
              <a:rPr lang="en-US" altLang="zh-CN" dirty="0"/>
              <a:t>Fixed Asset Review</a:t>
            </a:r>
          </a:p>
          <a:p>
            <a:r>
              <a:rPr lang="en-US" dirty="0"/>
              <a:t>Raw Material &amp; Finished Goods Review</a:t>
            </a:r>
          </a:p>
          <a:p>
            <a:endParaRPr lang="en-US" altLang="zh-CN" dirty="0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5D3F312F-9D95-ECFC-912E-06CAB0F3BC3B}"/>
              </a:ext>
            </a:extLst>
          </p:cNvPr>
          <p:cNvSpPr txBox="1">
            <a:spLocks/>
          </p:cNvSpPr>
          <p:nvPr/>
        </p:nvSpPr>
        <p:spPr>
          <a:xfrm>
            <a:off x="251520" y="1635646"/>
            <a:ext cx="5976664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3A4276DD-4974-54A5-7AB3-65C90C7CECCD}"/>
              </a:ext>
            </a:extLst>
          </p:cNvPr>
          <p:cNvSpPr txBox="1">
            <a:spLocks/>
          </p:cNvSpPr>
          <p:nvPr/>
        </p:nvSpPr>
        <p:spPr>
          <a:xfrm>
            <a:off x="251520" y="3651870"/>
            <a:ext cx="1800200" cy="305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F82A308D-8ACB-A985-B41B-0B10C4B13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10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4B0B0-7962-D744-5EE6-B285EB73F4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9512" y="987574"/>
            <a:ext cx="8784976" cy="3789362"/>
          </a:xfrm>
        </p:spPr>
        <p:txBody>
          <a:bodyPr/>
          <a:lstStyle/>
          <a:p>
            <a:r>
              <a:rPr lang="en-US" dirty="0"/>
              <a:t>From Russell Bedford Mock Audit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IMMEX &amp; PROSEC legal address incorrect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To solve, must update PRODUCTION PROCESS, provide PHOTOS of FIXED ASSETS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Shipping documents from the Dicex FTP shared website are missing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To solve, create API Key between Customs Broker &amp; Johnson Electric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ANA software may be location where missing documents are captured; requires analysis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Logistics Department emails may need to be scraped to </a:t>
            </a:r>
            <a:r>
              <a:rPr lang="en-US" sz="1600"/>
              <a:t>recover documents</a:t>
            </a: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9A5FF-51E1-85E2-7C0D-0112129B0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8CE61-9C41-AD7F-0F9F-D8DE8D9BC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ADCC5-4359-D3C1-18FD-37730A97013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4"/>
            <a:ext cx="3549576" cy="329199"/>
          </a:xfrm>
        </p:spPr>
        <p:txBody>
          <a:bodyPr/>
          <a:lstStyle/>
          <a:p>
            <a:r>
              <a:rPr lang="en-US" dirty="0"/>
              <a:t>Zacatecas W3’s</a:t>
            </a:r>
          </a:p>
        </p:txBody>
      </p:sp>
    </p:spTree>
    <p:extLst>
      <p:ext uri="{BB962C8B-B14F-4D97-AF65-F5344CB8AC3E}">
        <p14:creationId xmlns:p14="http://schemas.microsoft.com/office/powerpoint/2010/main" val="102282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2A2B-6F30-404A-D9C7-530F03D8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319D19-3C29-9F92-4BFA-732AEF54B2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9512" y="987574"/>
            <a:ext cx="8784976" cy="3789362"/>
          </a:xfrm>
        </p:spPr>
        <p:txBody>
          <a:bodyPr/>
          <a:lstStyle/>
          <a:p>
            <a:r>
              <a:rPr lang="en-US" dirty="0"/>
              <a:t>From Fixed Asset Review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Fixed Assets need to be identified completely, including photos of fixtures, machines, and molds, update Compliance database, and recover necessary documents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To solve, need support from temporary employees: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JETC students (36) to take photos and confirm Fixed Asset descriptions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Temporary employees (5) will match physical information against Data Stage, Oracle, Actual Under Construction Assets, and Annex 24, and add to Compliance Database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Rectification of </a:t>
            </a:r>
            <a:r>
              <a:rPr lang="en-US" sz="1600" dirty="0" err="1"/>
              <a:t>pedimentos</a:t>
            </a:r>
            <a:r>
              <a:rPr lang="en-US" sz="1600" dirty="0"/>
              <a:t> by JE Group MX staff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Change regimen of </a:t>
            </a:r>
            <a:r>
              <a:rPr lang="en-US" sz="1600" dirty="0" err="1"/>
              <a:t>pedimentos</a:t>
            </a:r>
            <a:r>
              <a:rPr lang="en-US" sz="1600" dirty="0"/>
              <a:t> where no Fixed Asset found on plant floor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Regularize Fixed Assets found without </a:t>
            </a:r>
            <a:r>
              <a:rPr lang="en-US" sz="1600" dirty="0" err="1"/>
              <a:t>pedimentos</a:t>
            </a:r>
            <a:r>
              <a:rPr lang="en-US" sz="16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87A82F-C08E-5AF4-880D-934E4019E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862CC-2043-C5A1-329D-D0774AA55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F2D0C-4DD6-CB56-B836-7D55F55FA5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4"/>
            <a:ext cx="3549576" cy="329199"/>
          </a:xfrm>
        </p:spPr>
        <p:txBody>
          <a:bodyPr/>
          <a:lstStyle/>
          <a:p>
            <a:r>
              <a:rPr lang="en-US" dirty="0"/>
              <a:t>Zacatecas W3’s</a:t>
            </a:r>
          </a:p>
        </p:txBody>
      </p:sp>
    </p:spTree>
    <p:extLst>
      <p:ext uri="{BB962C8B-B14F-4D97-AF65-F5344CB8AC3E}">
        <p14:creationId xmlns:p14="http://schemas.microsoft.com/office/powerpoint/2010/main" val="174804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0AA6E-E49E-839E-4D91-36A92039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EC84B-37B8-D839-0A4B-3405411FC7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9512" y="987574"/>
            <a:ext cx="8784976" cy="3789362"/>
          </a:xfrm>
        </p:spPr>
        <p:txBody>
          <a:bodyPr/>
          <a:lstStyle/>
          <a:p>
            <a:r>
              <a:rPr lang="en-US" dirty="0"/>
              <a:t>From Raw Material &amp; Finished Goods Review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It was identified that Raw Materials and Finished Goods are not on the same Plant layout as Fixed Assets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To solve, need to add Raw Materials and Finished Goods to a separate Plant layout map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Data stage will be the basis of the information 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Import / Export / Virtual Transactions covered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Tie back to Oracle system for balancing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sz="1600" dirty="0"/>
              <a:t>Intend to function as complete MX Customs Platform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A21BB-69E8-77A0-3141-C3D70228A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61B51-C0D0-2BC4-AFC7-FC6229D8B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9D498-3531-14BD-C056-CC77E488807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4"/>
            <a:ext cx="3549576" cy="329199"/>
          </a:xfrm>
        </p:spPr>
        <p:txBody>
          <a:bodyPr/>
          <a:lstStyle/>
          <a:p>
            <a:r>
              <a:rPr lang="en-US" dirty="0"/>
              <a:t>Zacatecas W3’s</a:t>
            </a:r>
          </a:p>
        </p:txBody>
      </p:sp>
    </p:spTree>
    <p:extLst>
      <p:ext uri="{BB962C8B-B14F-4D97-AF65-F5344CB8AC3E}">
        <p14:creationId xmlns:p14="http://schemas.microsoft.com/office/powerpoint/2010/main" val="233028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03D66-683A-EC1C-D028-B74BD9E1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F83FA63-DF62-CAA2-FB05-B8F18108A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19" y="339502"/>
            <a:ext cx="7256185" cy="774836"/>
          </a:xfrm>
        </p:spPr>
        <p:txBody>
          <a:bodyPr/>
          <a:lstStyle/>
          <a:p>
            <a:r>
              <a:rPr lang="en-US" altLang="zh-CN" sz="4400" dirty="0"/>
              <a:t>Hong Kong &amp; China</a:t>
            </a:r>
            <a:endParaRPr lang="zh-CN" altLang="en-US" sz="44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26C2348-0E94-621A-CE62-71543D860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Transit Time Analysis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FCL Shipments</a:t>
            </a:r>
          </a:p>
          <a:p>
            <a:r>
              <a:rPr lang="en-US" altLang="zh-CN" dirty="0"/>
              <a:t>Americas &amp; Europe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9D977F08-6923-80AE-08A1-B153EC25EF34}"/>
              </a:ext>
            </a:extLst>
          </p:cNvPr>
          <p:cNvSpPr txBox="1">
            <a:spLocks/>
          </p:cNvSpPr>
          <p:nvPr/>
        </p:nvSpPr>
        <p:spPr>
          <a:xfrm>
            <a:off x="251520" y="1635646"/>
            <a:ext cx="5976664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67C607DE-993B-C8CD-5184-C4A1BB905B75}"/>
              </a:ext>
            </a:extLst>
          </p:cNvPr>
          <p:cNvSpPr txBox="1">
            <a:spLocks/>
          </p:cNvSpPr>
          <p:nvPr/>
        </p:nvSpPr>
        <p:spPr>
          <a:xfrm>
            <a:off x="251520" y="3651870"/>
            <a:ext cx="1800200" cy="305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F415DE8C-524A-759E-C78C-966DD21BA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19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84FA-A5F0-0429-7A2D-E37A47C2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6CB9D6E-0C8B-CA38-C51D-ABE4B1F03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19" y="339502"/>
            <a:ext cx="7256185" cy="774836"/>
          </a:xfrm>
        </p:spPr>
        <p:txBody>
          <a:bodyPr/>
          <a:lstStyle/>
          <a:p>
            <a:r>
              <a:rPr lang="en-US" altLang="zh-CN" sz="4400" dirty="0"/>
              <a:t>India</a:t>
            </a:r>
            <a:endParaRPr lang="zh-CN" altLang="en-US" sz="44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328B527-5B3C-3C0E-3398-BCB5178DF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Transit Time Analysis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FCL Shipments</a:t>
            </a:r>
          </a:p>
          <a:p>
            <a:r>
              <a:rPr lang="en-US" altLang="zh-CN" dirty="0"/>
              <a:t>Americas &amp; Europe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772793F5-5A47-CF4B-1F42-DBF3F4454D85}"/>
              </a:ext>
            </a:extLst>
          </p:cNvPr>
          <p:cNvSpPr txBox="1">
            <a:spLocks/>
          </p:cNvSpPr>
          <p:nvPr/>
        </p:nvSpPr>
        <p:spPr>
          <a:xfrm>
            <a:off x="251520" y="1635646"/>
            <a:ext cx="5976664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C01CFD14-84A7-A783-3288-1A50576EEECD}"/>
              </a:ext>
            </a:extLst>
          </p:cNvPr>
          <p:cNvSpPr txBox="1">
            <a:spLocks/>
          </p:cNvSpPr>
          <p:nvPr/>
        </p:nvSpPr>
        <p:spPr>
          <a:xfrm>
            <a:off x="251520" y="3651870"/>
            <a:ext cx="1800200" cy="305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96353ABF-E374-395B-CCBF-15E85F7E8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02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3F97-F71B-DF2E-51E6-BD19B6BA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A1C05F-28D0-F25E-C2E6-FD9118393E8A}"/>
              </a:ext>
            </a:extLst>
          </p:cNvPr>
          <p:cNvSpPr txBox="1"/>
          <p:nvPr/>
        </p:nvSpPr>
        <p:spPr>
          <a:xfrm>
            <a:off x="553954" y="850392"/>
            <a:ext cx="5321066" cy="3926543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/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r>
              <a:rPr lang="en-US" sz="990" dirty="0"/>
              <a:t>Extend visibility beyond Tier-1 suppliers to Tier-2, Tier-3 and raw material sources to identify hidden supply chain risks.</a:t>
            </a:r>
            <a:br>
              <a:rPr lang="en-US" sz="990" dirty="0"/>
            </a:br>
            <a:endParaRPr lang="en-US" sz="990" dirty="0"/>
          </a:p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r>
              <a:rPr lang="en-US" sz="990" dirty="0"/>
              <a:t>Implement continuous supplier risk monitoring using digital mapping, financial health tracking and geopolitical risk assessments.</a:t>
            </a:r>
          </a:p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endParaRPr lang="en-US" sz="990" dirty="0"/>
          </a:p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r>
              <a:rPr lang="en-US" sz="990" dirty="0"/>
              <a:t>Diversify sourcing locations and critical material suppliers to reduce dependency on high-risk regions.</a:t>
            </a:r>
            <a:br>
              <a:rPr lang="en-US" sz="990" dirty="0"/>
            </a:br>
            <a:endParaRPr lang="en-US" sz="990" dirty="0"/>
          </a:p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r>
              <a:rPr lang="en-US" sz="990" dirty="0"/>
              <a:t>Currently OEMs are looking to strengthen end-to-end supplier transparency with enhanced Tier-N mapping and risk analytics.</a:t>
            </a:r>
          </a:p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endParaRPr lang="en-US" sz="990" dirty="0"/>
          </a:p>
          <a:p>
            <a:pPr marL="308610" indent="-162000">
              <a:lnSpc>
                <a:spcPct val="14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</a:pPr>
            <a:r>
              <a:rPr lang="en-US" sz="990" dirty="0"/>
              <a:t>OEMs like GM and Ford are working on moving manufacturing out of China to other hubs while tracking their entire supply chain to mitigate risks related to supply shortage.</a:t>
            </a:r>
            <a:br>
              <a:rPr lang="en-US" sz="720" b="1" dirty="0"/>
            </a:br>
            <a:endParaRPr lang="en-US" sz="72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378AC-5C9D-B2B7-BBE3-BC46655B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8980" y="4818589"/>
            <a:ext cx="2606040" cy="274637"/>
          </a:xfrm>
        </p:spPr>
        <p:txBody>
          <a:bodyPr vert="horz" lIns="82296" tIns="41148" rIns="82296" bIns="41148" rtlCol="0" anchor="ctr">
            <a:normAutofit/>
          </a:bodyPr>
          <a:lstStyle/>
          <a:p>
            <a:pPr>
              <a:spcAft>
                <a:spcPts val="540"/>
              </a:spcAft>
            </a:pPr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67DD7-828C-5976-0328-28BB3AFF7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954" y="4803998"/>
            <a:ext cx="712879" cy="274637"/>
          </a:xfrm>
        </p:spPr>
        <p:txBody>
          <a:bodyPr vert="horz" lIns="82296" tIns="41148" rIns="82296" bIns="41148" rtlCol="0" anchor="ctr">
            <a:normAutofit/>
          </a:bodyPr>
          <a:lstStyle/>
          <a:p>
            <a:pPr>
              <a:spcAft>
                <a:spcPts val="540"/>
              </a:spcAft>
            </a:pPr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>
                <a:spcAft>
                  <a:spcPts val="540"/>
                </a:spcAft>
              </a:pPr>
              <a:t>8</a:t>
            </a:fld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F4298-E1C5-E880-A232-7609A93777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84483" y="366565"/>
            <a:ext cx="2315571" cy="329199"/>
          </a:xfrm>
        </p:spPr>
        <p:txBody>
          <a:bodyPr vert="horz" lIns="0" tIns="0" rIns="0" bIns="0" rtlCol="0">
            <a:normAutofit fontScale="77500" lnSpcReduction="20000"/>
          </a:bodyPr>
          <a:lstStyle/>
          <a:p>
            <a:pPr>
              <a:spcAft>
                <a:spcPts val="540"/>
              </a:spcAft>
            </a:pPr>
            <a:r>
              <a:rPr lang="en-US" altLang="zh-CN" dirty="0"/>
              <a:t>Tier-N Resiliency - Basics</a:t>
            </a:r>
            <a:r>
              <a:rPr lang="en-US" altLang="en-US" dirty="0"/>
              <a:t>         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DBE6C-B3F9-A735-012E-880168AD90F2}"/>
              </a:ext>
            </a:extLst>
          </p:cNvPr>
          <p:cNvSpPr/>
          <p:nvPr/>
        </p:nvSpPr>
        <p:spPr>
          <a:xfrm>
            <a:off x="7527798" y="4005072"/>
            <a:ext cx="164592" cy="1851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1028" name="Picture 4" descr="Supply Chain Resilience PowerPoint and Google Slides Template - PPT Slides">
            <a:extLst>
              <a:ext uri="{FF2B5EF4-FFF2-40B4-BE49-F238E27FC236}">
                <a16:creationId xmlns:a16="http://schemas.microsoft.com/office/drawing/2014/main" id="{439C41A4-B635-CB1E-BDAE-0308D71E5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7" t="21261" r="14083" b="11629"/>
          <a:stretch>
            <a:fillRect/>
          </a:stretch>
        </p:blipFill>
        <p:spPr bwMode="auto">
          <a:xfrm>
            <a:off x="5875020" y="850392"/>
            <a:ext cx="2624517" cy="162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73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7DFC9-4A73-7A81-F2E5-17B88C7B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36ACE-2705-3A12-4DD0-A354A0C42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2854C-8CBC-E8F6-83D6-B90F11489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A2DE7-01DB-B6A0-728B-D147CD61DB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03880" cy="329199"/>
          </a:xfrm>
        </p:spPr>
        <p:txBody>
          <a:bodyPr/>
          <a:lstStyle/>
          <a:p>
            <a:r>
              <a:rPr lang="en-US" altLang="en-US" sz="1600" dirty="0">
                <a:cs typeface="helvetica"/>
              </a:rPr>
              <a:t>Tier N Plan – Discussion 7/10/26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CA887B5-DC57-7EA3-529E-8E81814F1E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0031" y="713511"/>
            <a:ext cx="8401578" cy="41050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cs typeface="helvetica"/>
              </a:rPr>
              <a:t>Housings</a:t>
            </a:r>
          </a:p>
          <a:p>
            <a:pPr indent="-179701">
              <a:lnSpc>
                <a:spcPct val="100000"/>
              </a:lnSpc>
            </a:pPr>
            <a:r>
              <a:rPr lang="en-US" sz="1200" dirty="0">
                <a:cs typeface="helvetica"/>
              </a:rPr>
              <a:t>Steel – EG (Japan) or GI (India) 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helvetica"/>
              </a:rPr>
              <a:t>Stamping Blanks at Chennai P603 – Feb 2027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cs typeface="helvetica"/>
              </a:rPr>
              <a:t>Laminations </a:t>
            </a:r>
          </a:p>
          <a:p>
            <a:pPr indent="-179701">
              <a:lnSpc>
                <a:spcPct val="100000"/>
              </a:lnSpc>
            </a:pPr>
            <a:r>
              <a:rPr lang="en-US" sz="1200" dirty="0">
                <a:cs typeface="helvetica"/>
              </a:rPr>
              <a:t>Sheets – SI (Japan)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helvetica"/>
              </a:rPr>
              <a:t>Stacks – Stamping of sheets in Chennai P601 – Feb 2027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cs typeface="helvetica"/>
              </a:rPr>
              <a:t>Open question – slitting location?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cs typeface="helvetica"/>
              </a:rPr>
              <a:t>Magnets</a:t>
            </a:r>
          </a:p>
          <a:p>
            <a:pPr indent="-179701">
              <a:lnSpc>
                <a:spcPct val="100000"/>
              </a:lnSpc>
            </a:pPr>
            <a:r>
              <a:rPr lang="en-US" sz="1200" dirty="0">
                <a:cs typeface="helvetica"/>
              </a:rPr>
              <a:t>Iron Oxide will come from </a:t>
            </a:r>
            <a:r>
              <a:rPr lang="en-US" sz="1200" dirty="0" err="1">
                <a:cs typeface="helvetica"/>
              </a:rPr>
              <a:t>Tetsugen</a:t>
            </a:r>
            <a:r>
              <a:rPr lang="en-US" sz="1200" dirty="0">
                <a:cs typeface="helvetica"/>
              </a:rPr>
              <a:t> (Japan)</a:t>
            </a:r>
          </a:p>
          <a:p>
            <a:pPr indent="-179701">
              <a:lnSpc>
                <a:spcPct val="100000"/>
              </a:lnSpc>
            </a:pPr>
            <a:r>
              <a:rPr lang="en-US" sz="1200" dirty="0">
                <a:cs typeface="helvetica"/>
              </a:rPr>
              <a:t>Pressing at Chennai P605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helvetica"/>
              </a:rPr>
              <a:t>Grade 6 – October 2027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helvetica"/>
              </a:rPr>
              <a:t>Grade 8 – December 2027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helvetica"/>
              </a:rPr>
              <a:t>Grade 12 – January 2028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cs typeface="helvetica"/>
              </a:rPr>
              <a:t>Shafts</a:t>
            </a:r>
          </a:p>
          <a:p>
            <a:pPr indent="-179701">
              <a:lnSpc>
                <a:spcPct val="100000"/>
              </a:lnSpc>
            </a:pPr>
            <a:r>
              <a:rPr lang="en-US" sz="1200" dirty="0">
                <a:cs typeface="helvetica"/>
              </a:rPr>
              <a:t>Steel from India</a:t>
            </a:r>
          </a:p>
          <a:p>
            <a:pPr marL="777543" lvl="1" indent="-214313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cs typeface="helvetica"/>
              </a:rPr>
              <a:t>Forgings at Chennai P605 – October 2027</a:t>
            </a:r>
          </a:p>
        </p:txBody>
      </p:sp>
    </p:spTree>
    <p:extLst>
      <p:ext uri="{BB962C8B-B14F-4D97-AF65-F5344CB8AC3E}">
        <p14:creationId xmlns:p14="http://schemas.microsoft.com/office/powerpoint/2010/main" val="1639342159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helvetica"/>
        <a:ea typeface="黑体"/>
        <a:cs typeface=""/>
      </a:majorFont>
      <a:minorFont>
        <a:latin typeface="helvetic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8DF373F16CB04ABF103B9967DA2394" ma:contentTypeVersion="23" ma:contentTypeDescription="Create a new document." ma:contentTypeScope="" ma:versionID="b5d7289f06592aa2720abaf3f739e118">
  <xsd:schema xmlns:xsd="http://www.w3.org/2001/XMLSchema" xmlns:xs="http://www.w3.org/2001/XMLSchema" xmlns:p="http://schemas.microsoft.com/office/2006/metadata/properties" xmlns:ns2="5356ecc3-abe1-4b42-8adb-c1b6f6952a14" xmlns:ns3="06149400-683b-4939-845b-93082163a1f5" targetNamespace="http://schemas.microsoft.com/office/2006/metadata/properties" ma:root="true" ma:fieldsID="3421befa5fdd1be562dd6a71c4aa9cac" ns2:_="" ns3:_="">
    <xsd:import namespace="5356ecc3-abe1-4b42-8adb-c1b6f6952a14"/>
    <xsd:import namespace="06149400-683b-4939-845b-93082163a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Tag" minOccurs="0"/>
                <xsd:element ref="ns2:IPG" minOccurs="0"/>
                <xsd:element ref="ns2:Image" minOccurs="0"/>
                <xsd:element ref="ns2:Stockphotos" minOccurs="0"/>
                <xsd:element ref="ns2:MediaServiceLocation" minOccurs="0"/>
                <xsd:element ref="ns2:Otherdescrip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56ecc3-abe1-4b42-8adb-c1b6f6952a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g" ma:index="20" nillable="true" ma:displayName="APG" ma:format="Dropdown" ma:internalName="Tag">
      <xsd:simpleType>
        <xsd:restriction base="dms:Text">
          <xsd:maxLength value="255"/>
        </xsd:restriction>
      </xsd:simpleType>
    </xsd:element>
    <xsd:element name="IPG" ma:index="21" nillable="true" ma:displayName="IPG" ma:format="Dropdown" ma:internalName="IPG">
      <xsd:simpleType>
        <xsd:restriction base="dms:Text">
          <xsd:maxLength value="255"/>
        </xsd:restriction>
      </xsd:simpleType>
    </xsd:element>
    <xsd:element name="Image" ma:index="22" nillable="true" ma:displayName="Image" ma:format="Thumbnail" ma:internalName="Image">
      <xsd:simpleType>
        <xsd:restriction base="dms:Unknown"/>
      </xsd:simpleType>
    </xsd:element>
    <xsd:element name="Stockphotos" ma:index="23" nillable="true" ma:displayName="Stockphotos" ma:format="Dropdown" ma:internalName="Stockphotos">
      <xsd:simpleType>
        <xsd:restriction base="dms:Text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Otherdescription" ma:index="25" nillable="true" ma:displayName="Other description" ma:format="Dropdown" ma:internalName="Otherdescription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6ac7225c-d93e-4b3e-bf6d-2582d7da20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49400-683b-4939-845b-93082163a1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465af77f-5d1e-4985-98fe-6b2556b7f727}" ma:internalName="TaxCatchAll" ma:showField="CatchAllData" ma:web="06149400-683b-4939-845b-93082163a1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149400-683b-4939-845b-93082163a1f5" xsi:nil="true"/>
    <lcf76f155ced4ddcb4097134ff3c332f xmlns="5356ecc3-abe1-4b42-8adb-c1b6f6952a14">
      <Terms xmlns="http://schemas.microsoft.com/office/infopath/2007/PartnerControls"/>
    </lcf76f155ced4ddcb4097134ff3c332f>
    <SharedWithUsers xmlns="06149400-683b-4939-845b-93082163a1f5">
      <UserInfo>
        <DisplayName>Julie l Zhang</DisplayName>
        <AccountId>18</AccountId>
        <AccountType/>
      </UserInfo>
      <UserInfo>
        <DisplayName>Dionne Ng</DisplayName>
        <AccountId>19</AccountId>
        <AccountType/>
      </UserInfo>
      <UserInfo>
        <DisplayName>SharingLinks.6b0abd1c-c1c0-4bb2-a1d4-597d98bdbcf9.OrganizationEdit.941625fc-6f4b-450d-9ea0-a6a5f17e629b</DisplayName>
        <AccountId>21</AccountId>
        <AccountType/>
      </UserInfo>
      <UserInfo>
        <DisplayName>Ivan Tsang</DisplayName>
        <AccountId>74</AccountId>
        <AccountType/>
      </UserInfo>
    </SharedWithUsers>
    <Tag xmlns="5356ecc3-abe1-4b42-8adb-c1b6f6952a14" xsi:nil="true"/>
    <Otherdescription xmlns="5356ecc3-abe1-4b42-8adb-c1b6f6952a14" xsi:nil="true"/>
    <Stockphotos xmlns="5356ecc3-abe1-4b42-8adb-c1b6f6952a14" xsi:nil="true"/>
    <Image xmlns="5356ecc3-abe1-4b42-8adb-c1b6f6952a14" xsi:nil="true"/>
    <IPG xmlns="5356ecc3-abe1-4b42-8adb-c1b6f6952a14" xsi:nil="true"/>
  </documentManagement>
</p:properties>
</file>

<file path=customXml/itemProps1.xml><?xml version="1.0" encoding="utf-8"?>
<ds:datastoreItem xmlns:ds="http://schemas.openxmlformats.org/officeDocument/2006/customXml" ds:itemID="{87EC097C-ADA6-4A32-B6FD-CF6B35CCA1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BE210E-D018-43E4-A268-9355377C0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56ecc3-abe1-4b42-8adb-c1b6f6952a14"/>
    <ds:schemaRef ds:uri="06149400-683b-4939-845b-93082163a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4A7223-187B-4F92-8F3E-9179895FB80A}">
  <ds:schemaRefs>
    <ds:schemaRef ds:uri="06149400-683b-4939-845b-93082163a1f5"/>
    <ds:schemaRef ds:uri="5356ecc3-abe1-4b42-8adb-c1b6f6952a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2038</TotalTime>
  <Words>957</Words>
  <Application>Microsoft Office PowerPoint</Application>
  <PresentationFormat>On-screen Show (16:9)</PresentationFormat>
  <Paragraphs>110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等线</vt:lpstr>
      <vt:lpstr>微软雅黑</vt:lpstr>
      <vt:lpstr>Arial</vt:lpstr>
      <vt:lpstr>Arial Unicode MS</vt:lpstr>
      <vt:lpstr>Calibri</vt:lpstr>
      <vt:lpstr>Courier New</vt:lpstr>
      <vt:lpstr>helvetica</vt:lpstr>
      <vt:lpstr>Wingdings</vt:lpstr>
      <vt:lpstr>slide master</vt:lpstr>
      <vt:lpstr>Travel Summary</vt:lpstr>
      <vt:lpstr>Mexico</vt:lpstr>
      <vt:lpstr>PowerPoint Presentation</vt:lpstr>
      <vt:lpstr>PowerPoint Presentation</vt:lpstr>
      <vt:lpstr>PowerPoint Presentation</vt:lpstr>
      <vt:lpstr>Hong Kong &amp; China</vt:lpstr>
      <vt:lpstr>India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Brian Smith</cp:lastModifiedBy>
  <cp:revision>27</cp:revision>
  <dcterms:created xsi:type="dcterms:W3CDTF">2023-02-21T07:12:46Z</dcterms:created>
  <dcterms:modified xsi:type="dcterms:W3CDTF">2026-08-12T18:44:20Z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0x010100B18DF373F16CB04ABF103B9967DA2394</vt:lpwstr>
  </property>
  <property fmtid="{D5CDD505-2E9C-101B-9397-08002B2CF9AE}" pid="3" name="MediaServiceImageTags">
    <vt:lpwstr/>
  </property>
</Properties>
</file>